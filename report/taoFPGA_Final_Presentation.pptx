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6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292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Greeting + introductions. We are Eliran Turgeman and Shay Rask, Computer Engineering, hardware &amp; chip design track. Supervisor Dr. Leonid Yavits, mentor David Freud. Project 309: taoFPGA, a quantized INT8 Transformer processing core taken from fixed-point math all the way to real silicon on a $200 Zynq board. 15 minutes; Shay takes background/architecture, Eliran takes verification/results.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30-second roadmap. Flag slide 5 as the self-contained technical contribution the guidelines ask for - it stands on its own even if you have not read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Establish the gap. Every recent FPGA transformer accelerator converges on the same three ideas - systolic/PE matmul, fixed-point quantization, dedicated activation units - because the bottleneck is always the same. Prior art (refs [2]-[5]) targets datacenter FPGAs; we target a 220-DSP embedded Zynq. The engineering interest is the resource pressure: everything is scarce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is the glossary so the contribution slides are self-contained. Keep it to ~45s: attention is matmul + Softmax + matmul + GELU; quantization trades precision for bandwidth and logic; a weight-stationary systolic array is how you do the matmul without long wires.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clauses: (1) build the datapath on a small device, (2) verify it end to end, (3) only claim a speed-up that is genuinely true. The third clause becomes a real result later (slide 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five specific objectives are the spine of the whole talk and the conclusion returns to each one with a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Being explicit about the out-of-scope column is itself a result: each exclusion has a concrete, documented reason, not hand-waving. The DMA ceiling and the ViT workload mismatch both come back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flow is linear on the slide but was highly iterative in practice (Appendix A). The key methodological choice: a bug at layer N is not diagnosed by trusting layer N-1; each interface is re-derived from the current source of truth. This is what caught the stale driver and the six parameter mismatches.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PE: a held weight, a streamed activation with a registered pass-through, a multiplier, and a 20-bit accumulate register. That psum_out_r register is the exact object the contribution slide is about. Round-half-up-and-saturate is the only place precision is lost, and it is formalised so the golden model can match it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Softmax is exact softmax re-expressed in the base-2, log-domain form the hardware actually computes - so 'golden' really means identical, not merely close. The 3N-cycle serial structure is a deliberate area choice and a known throughput limit we quantify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Integration surfaced two things worth noting: 40+ async-reset DRC violations on BRAM control logic (fixed across 12 files), and the discovery that the *full* pipeline had never actually been AXI-wrapped - only the standalone matmul. We built the wrapper keeping the RTL's own parameter names to avoid re-introducing an earlier drift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Tolerance is a 6-LSB bound at the shared Softmax/GELU scale, chosen to absorb error compounding across two INT8 boundaries - not a fudge. The 18,083-cycle figure is read off the counter in the waveform, not reconstructed, and it is the same number the silicon run reproduces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it as a diagnosis story. 5.9% DSP utilisation on a systolic array is a red flag you only see if you read the utilisation report, not just 'did the build pass'. The obvious pragma did literally nothing, and crucially it did nothing *silently*.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parts: (1) the attribute-attachment rule - wire vs reg, declaration vs block - which is easy to miss from the UG901 text; (2) you cannot just flip every PE to DSP because the chip only has 220 slices, so the mapping is parameterised and sized to the budget. True dual-8-bit DSP packing was considered and rejected as too invasive to the array timing skew.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headline: a single, behaviour-preserving RTL change cut LUTs in half and dropped power 3%. It stands entirely on its own - no other slide needed to understand it. The lesson generalises to any tool pragma.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fused operation on both sides. 70x and 98x measured, live, on the board. Efficiency combines the live throughput with Vivado's post-route activity-based power estimate - a signoff-grade estimate, stated as such, not a wall-plug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decisive move during bring-up: when small 'smoke-test' shapes failed, we re-ran the *exact* shape simulation had already proven, and it was perfect. That separated 'the design is broken' from 'my quick test exercised an unverified corner' - which is what it was (a single-row address-counter edge case, documented as open).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'transparency' the guidelines ask for, turned into a contribution. Asked for an end-to-end ViT speed-up, we checked first whether the comparison would even be true - it would not - and reported that instead of a fabricated number. The check before the benchmark mattered more than the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discipline as the ViT slide: a raw GOPS/W ranking across three very different devices would misrepresent the comparison, so we don't make one. All three designs run their device's DSP column near saturation - that's the shared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Mandatory slide. Honest read: all six work phases completed, two with more scope than planned (integration, calibration-turned-optimisation). Two deliberate scope changes - RTL instead of HLS, and kernel benchmark instead of GPU/end-to-end-ViT - each for a documented engineering reason. ~3-month calendar slip, mostly from environment/infrastructure problems early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 column = what we would fix next and why it is non-trivial. Right column = four Appendix-A stories that show method: audit the pattern not the symptom; scale test data with an on-demand function; re-derive an interface from its source of truth; and re-run a known-good condition before blaming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here follows directly from the bottleneck slide. Item 1 is the prerequisite fix - it is what unlocks the out-of-scope column from slide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project is deliberately cheap: one commodity board, academic tool licenses, open-source Python. The reproducibility cost for anyone else is ~$199 plus the public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through-line: the numbers matter, but the method - never inherit correctness from an adjacent layer, and never claim more than the hardware can actually do - is the transferable contribution. Thank the supervisor and mentor.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Anticipated questions: why INT8 power-of-two scales; why 12/16 DSP rows exactly; what the 2-row DMA hang root cause might be; why not HLS; how the golden model handles Softmax rounding; what Scatter-Gather DMA changes in the RTL.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Appendix-A stories that show method: (A.1) a generate loop is an elaboration-time construct </a:t>
            </a:r>
            <a:r>
              <a:rPr lang="he-IL"/>
              <a:t>-</a:t>
            </a:r>
            <a:r>
              <a:t> don't use it to hold data; (A.5) a DRC names the nearest offender, not the pattern </a:t>
            </a:r>
            <a:r>
              <a:rPr lang="he-IL"/>
              <a:t>-</a:t>
            </a:r>
            <a:r>
              <a:t> audit project-wide; (A.3) a comment saying 'known limitation' is not 'handled' </a:t>
            </a:r>
            <a:r>
              <a:rPr lang="he-IL"/>
              <a:t>-</a:t>
            </a:r>
            <a:r>
              <a:t> read the implementation, not just the port 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exact statement from Report §II.B. The point of reformulating softmax into base-2 / log-domain is that it removes an explicit hardware divider (pass 3) and it matches the golden model exactly, so verification is bit-faithful rather than approximate.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From Report §III.B and §II.C. The 6-LSB figure is specific to the integration test at the shared Softmax/GELU scale; unit tests are tighter. The rationale: real bugs don't look like uniform small noise, so a modest tolerance separates 'quantization compounding' from 'logic error'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47088"/>
            <a:ext cx="12191695" cy="54864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12191695" cy="18288"/>
          </a:xfrm>
          <a:prstGeom prst="rect">
            <a:avLst/>
          </a:prstGeom>
          <a:solidFill>
            <a:srgbClr val="33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658368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>
                <a:solidFill>
                  <a:srgbClr val="2077E0"/>
                </a:solidFill>
                <a:latin typeface="Segoe UI"/>
              </a:rPr>
              <a:t>FINAL YEAR PROJECT  ·  COMPUTER ENGINEERING </a:t>
            </a:r>
            <a:r>
              <a:rPr lang="he-IL" sz="1300" b="1" i="0" dirty="0">
                <a:solidFill>
                  <a:srgbClr val="2077E0"/>
                </a:solidFill>
                <a:latin typeface="Segoe UI"/>
              </a:rPr>
              <a:t>-</a:t>
            </a:r>
            <a:r>
              <a:rPr sz="1300" b="1" i="0" dirty="0">
                <a:solidFill>
                  <a:srgbClr val="2077E0"/>
                </a:solidFill>
                <a:latin typeface="Segoe UI"/>
              </a:rPr>
              <a:t> HARDWARE &amp; CHIP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 dirty="0" err="1">
                <a:solidFill>
                  <a:srgbClr val="FFFFFF"/>
                </a:solidFill>
                <a:latin typeface="Segoe UI"/>
              </a:rPr>
              <a:t>taoFPGA</a:t>
            </a:r>
            <a:endParaRPr sz="5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C7D0DC"/>
                </a:solidFill>
                <a:latin typeface="Segoe UI"/>
              </a:rPr>
              <a:t>Architecture, Implementation, and Evaluation of a Quantized Transformer Processing Core on an Edge FPGA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Eliran Turgeman</a:t>
            </a:r>
            <a:r>
              <a:rPr sz="1400" b="0" i="0">
                <a:solidFill>
                  <a:srgbClr val="5B6570"/>
                </a:solidFill>
                <a:latin typeface="Segoe UI"/>
              </a:rPr>
              <a:t>   316372002       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Shay Rask</a:t>
            </a:r>
            <a:r>
              <a:rPr sz="1400" b="0" i="0">
                <a:solidFill>
                  <a:srgbClr val="5B6570"/>
                </a:solidFill>
                <a:latin typeface="Segoe UI"/>
              </a:rPr>
              <a:t>   314951658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0"/>
                </a:solidFill>
                <a:latin typeface="Segoe UI"/>
              </a:rPr>
              <a:t>Academic supervisor:  </a:t>
            </a:r>
            <a:r>
              <a:rPr sz="1300" b="1" i="0">
                <a:solidFill>
                  <a:srgbClr val="C7D0DC"/>
                </a:solidFill>
                <a:latin typeface="Segoe UI"/>
              </a:rPr>
              <a:t>Dr. Leonid Yavits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570"/>
                </a:solidFill>
                <a:latin typeface="Segoe UI"/>
              </a:rPr>
              <a:t>Project mentor:  </a:t>
            </a:r>
            <a:r>
              <a:rPr sz="1300" b="1" i="0">
                <a:solidFill>
                  <a:srgbClr val="C7D0DC"/>
                </a:solidFill>
                <a:latin typeface="Segoe UI"/>
              </a:rPr>
              <a:t>David Freud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897880"/>
            <a:ext cx="1828800" cy="50292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pic>
        <p:nvPicPr>
          <p:cNvPr id="12" name="Picture 1" descr="A black background with green and blue text  AI-generated content may be incorrect.">
            <a:extLst>
              <a:ext uri="{FF2B5EF4-FFF2-40B4-BE49-F238E27FC236}">
                <a16:creationId xmlns:a16="http://schemas.microsoft.com/office/drawing/2014/main" id="{C22072CA-082D-6388-9F58-E6FF88237C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499" t="7061" b="9532"/>
          <a:stretch>
            <a:fillRect/>
          </a:stretch>
        </p:blipFill>
        <p:spPr bwMode="auto">
          <a:xfrm>
            <a:off x="10047425" y="6125304"/>
            <a:ext cx="2009775" cy="5397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"/>
            <a:ext cx="9052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077E0"/>
                </a:solidFill>
                <a:latin typeface="Segoe UI"/>
              </a:rPr>
              <a:t>WHERE WE ARE GOING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Outline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10515600" cy="36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sz="1800" b="1" dirty="0">
                <a:solidFill>
                  <a:srgbClr val="2077E0"/>
                </a:solidFill>
                <a:latin typeface="Segoe UI"/>
              </a:rPr>
              <a:t>1  Background &amp; motivation </a:t>
            </a:r>
            <a:r>
              <a:rPr lang="he-IL" sz="1800" b="1" dirty="0">
                <a:solidFill>
                  <a:srgbClr val="2077E0"/>
                </a:solidFill>
                <a:latin typeface="Segoe UI"/>
              </a:rPr>
              <a:t>-</a:t>
            </a:r>
            <a:r>
              <a:rPr sz="1800" b="1" dirty="0">
                <a:solidFill>
                  <a:srgbClr val="2077E0"/>
                </a:solidFill>
                <a:latin typeface="Segoe UI"/>
              </a:rPr>
              <a:t> the edge-AI compute dilemma</a:t>
            </a:r>
          </a:p>
          <a:p>
            <a:pPr>
              <a:lnSpc>
                <a:spcPct val="115000"/>
              </a:lnSpc>
              <a:spcBef>
                <a:spcPts val="1100"/>
              </a:spcBef>
            </a:pPr>
            <a:r>
              <a:rPr sz="1800" b="0" dirty="0">
                <a:solidFill>
                  <a:srgbClr val="1B2430"/>
                </a:solidFill>
                <a:latin typeface="Segoe UI"/>
              </a:rPr>
              <a:t>2  Problem statement, objectives &amp; scope</a:t>
            </a:r>
          </a:p>
          <a:p>
            <a:pPr>
              <a:lnSpc>
                <a:spcPct val="115000"/>
              </a:lnSpc>
              <a:spcBef>
                <a:spcPts val="1100"/>
              </a:spcBef>
            </a:pPr>
            <a:r>
              <a:rPr sz="1800" b="0" dirty="0">
                <a:solidFill>
                  <a:srgbClr val="1B2430"/>
                </a:solidFill>
                <a:latin typeface="Segoe UI"/>
              </a:rPr>
              <a:t>3  Methodology </a:t>
            </a:r>
            <a:r>
              <a:rPr lang="he-IL" sz="1800" b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800" b="0" dirty="0">
                <a:solidFill>
                  <a:srgbClr val="1B2430"/>
                </a:solidFill>
                <a:latin typeface="Segoe UI"/>
              </a:rPr>
              <a:t> a verify-every-layer co-design flow</a:t>
            </a:r>
          </a:p>
          <a:p>
            <a:pPr>
              <a:lnSpc>
                <a:spcPct val="115000"/>
              </a:lnSpc>
              <a:spcBef>
                <a:spcPts val="1100"/>
              </a:spcBef>
            </a:pPr>
            <a:r>
              <a:rPr sz="1800" b="0" dirty="0">
                <a:solidFill>
                  <a:srgbClr val="1B2430"/>
                </a:solidFill>
                <a:latin typeface="Segoe UI"/>
              </a:rPr>
              <a:t>4  Core hardware architecture (systolic array + fixed-point </a:t>
            </a:r>
            <a:r>
              <a:rPr sz="1800" b="0" dirty="0" err="1">
                <a:solidFill>
                  <a:srgbClr val="1B2430"/>
                </a:solidFill>
                <a:latin typeface="Segoe UI"/>
              </a:rPr>
              <a:t>Softmax</a:t>
            </a:r>
            <a:r>
              <a:rPr sz="1800" b="0" dirty="0">
                <a:solidFill>
                  <a:srgbClr val="1B2430"/>
                </a:solidFill>
                <a:latin typeface="Segoe UI"/>
              </a:rPr>
              <a:t>/GELU)</a:t>
            </a:r>
          </a:p>
          <a:p>
            <a:pPr>
              <a:lnSpc>
                <a:spcPct val="115000"/>
              </a:lnSpc>
              <a:spcBef>
                <a:spcPts val="1100"/>
              </a:spcBef>
            </a:pPr>
            <a:r>
              <a:rPr sz="1800" b="1" dirty="0">
                <a:solidFill>
                  <a:srgbClr val="E8703A"/>
                </a:solidFill>
                <a:latin typeface="Segoe UI"/>
              </a:rPr>
              <a:t>5  Technical contribution </a:t>
            </a:r>
            <a:r>
              <a:rPr lang="he-IL" sz="1800" b="1" dirty="0">
                <a:solidFill>
                  <a:srgbClr val="E8703A"/>
                </a:solidFill>
                <a:latin typeface="Segoe UI"/>
              </a:rPr>
              <a:t>-</a:t>
            </a:r>
            <a:r>
              <a:rPr sz="1800" b="1" dirty="0">
                <a:solidFill>
                  <a:srgbClr val="E8703A"/>
                </a:solidFill>
                <a:latin typeface="Segoe UI"/>
              </a:rPr>
              <a:t> a synthesis attribute that silently did nothing</a:t>
            </a:r>
          </a:p>
          <a:p>
            <a:pPr>
              <a:lnSpc>
                <a:spcPct val="115000"/>
              </a:lnSpc>
              <a:spcBef>
                <a:spcPts val="1100"/>
              </a:spcBef>
            </a:pPr>
            <a:r>
              <a:rPr sz="1800" b="0" dirty="0">
                <a:solidFill>
                  <a:srgbClr val="1B2430"/>
                </a:solidFill>
                <a:latin typeface="Segoe UI"/>
              </a:rPr>
              <a:t>6  Results: kernel speedup, silicon verification, honest workload analysis</a:t>
            </a:r>
          </a:p>
          <a:p>
            <a:pPr>
              <a:lnSpc>
                <a:spcPct val="115000"/>
              </a:lnSpc>
              <a:spcBef>
                <a:spcPts val="1100"/>
              </a:spcBef>
            </a:pPr>
            <a:r>
              <a:rPr sz="1800" b="0" dirty="0">
                <a:solidFill>
                  <a:srgbClr val="1B2430"/>
                </a:solidFill>
                <a:latin typeface="Segoe UI"/>
              </a:rPr>
              <a:t>7  Planning vs. execution, challenges, budget &amp; roadmap</a:t>
            </a:r>
          </a:p>
          <a:p>
            <a:pPr>
              <a:lnSpc>
                <a:spcPct val="115000"/>
              </a:lnSpc>
              <a:spcBef>
                <a:spcPts val="1100"/>
              </a:spcBef>
            </a:pPr>
            <a:r>
              <a:rPr sz="1800" b="0" dirty="0">
                <a:solidFill>
                  <a:srgbClr val="1B2430"/>
                </a:solidFill>
                <a:latin typeface="Segoe UI"/>
              </a:rPr>
              <a:t>8  Conclusions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"/>
            <a:ext cx="9052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077E0"/>
                </a:solidFill>
                <a:latin typeface="Segoe UI"/>
              </a:rPr>
              <a:t>1 · SIGNIFICANCE &amp; JUSTIFICATION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Background: the edge-AI compute dilemma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77240" y="1508760"/>
                <a:ext cx="6903720" cy="4459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4000"/>
                  </a:lnSpc>
                  <a:spcBef>
                    <a:spcPts val="0"/>
                  </a:spcBef>
                </a:pPr>
                <a:r>
                  <a:rPr sz="15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550" b="0" i="0" dirty="0">
                    <a:solidFill>
                      <a:srgbClr val="1B2430"/>
                    </a:solidFill>
                    <a:latin typeface="Segoe UI"/>
                  </a:rPr>
                  <a:t>Transformers are the state of the art in both NLP and computer vision (Vision Transformers, </a:t>
                </a:r>
                <a:r>
                  <a:rPr sz="1550" b="0" i="0" dirty="0" err="1">
                    <a:solidFill>
                      <a:srgbClr val="1B2430"/>
                    </a:solidFill>
                    <a:latin typeface="Segoe UI"/>
                  </a:rPr>
                  <a:t>ViT</a:t>
                </a:r>
                <a:r>
                  <a:rPr sz="1550" b="0" i="0" dirty="0">
                    <a:solidFill>
                      <a:srgbClr val="1B2430"/>
                    </a:solidFill>
                    <a:latin typeface="Segoe UI"/>
                  </a:rPr>
                  <a:t>).</a:t>
                </a:r>
              </a:p>
              <a:p>
                <a:pPr>
                  <a:lnSpc>
                    <a:spcPct val="124000"/>
                  </a:lnSpc>
                  <a:spcBef>
                    <a:spcPts val="1100"/>
                  </a:spcBef>
                </a:pPr>
                <a:r>
                  <a:rPr sz="15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550" b="0" i="0" dirty="0">
                    <a:solidFill>
                      <a:srgbClr val="1B2430"/>
                    </a:solidFill>
                    <a:latin typeface="Segoe UI"/>
                  </a:rPr>
                  <a:t>Their computational profile is hostile to edge hardware:</a:t>
                </a:r>
              </a:p>
              <a:p>
                <a:pPr>
                  <a:lnSpc>
                    <a:spcPct val="124000"/>
                  </a:lnSpc>
                  <a:spcBef>
                    <a:spcPts val="1100"/>
                  </a:spcBef>
                </a:pPr>
                <a:r>
                  <a:rPr sz="1550" b="0" i="0" dirty="0">
                    <a:solidFill>
                      <a:srgbClr val="5B6570"/>
                    </a:solidFill>
                    <a:latin typeface="Segoe UI"/>
                  </a:rPr>
                  <a:t>      </a:t>
                </a:r>
                <a:r>
                  <a:rPr lang="he-IL" sz="1550" b="0" i="0" dirty="0">
                    <a:solidFill>
                      <a:srgbClr val="5B6570"/>
                    </a:solidFill>
                    <a:latin typeface="Segoe UI"/>
                  </a:rPr>
                  <a:t>-</a:t>
                </a:r>
                <a:r>
                  <a:rPr sz="1550" b="0" i="0" dirty="0">
                    <a:solidFill>
                      <a:srgbClr val="5B6570"/>
                    </a:solidFill>
                    <a:latin typeface="Segoe UI"/>
                  </a:rPr>
                  <a:t>  </a:t>
                </a:r>
                <a14:m>
                  <m:oMath xmlns:m="http://schemas.openxmlformats.org/officeDocument/2006/math">
                    <m:r>
                      <a:rPr lang="he-IL" sz="1450" b="0" i="1" dirty="0" smtClean="0">
                        <a:solidFill>
                          <a:srgbClr val="5B657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he-IL" sz="1450" b="0" i="1" dirty="0" smtClean="0">
                        <a:solidFill>
                          <a:srgbClr val="5B657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he-IL" sz="1450" b="0" i="1" dirty="0" smtClean="0">
                        <a:solidFill>
                          <a:srgbClr val="5B657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he-IL" sz="1160" b="0" i="1" baseline="33000" dirty="0">
                        <a:solidFill>
                          <a:srgbClr val="5B657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he-IL" sz="1450" b="0" i="1" dirty="0">
                        <a:solidFill>
                          <a:srgbClr val="5B657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450" b="0" i="0" dirty="0">
                    <a:solidFill>
                      <a:srgbClr val="5B6570"/>
                    </a:solidFill>
                    <a:latin typeface="Segoe UI"/>
                  </a:rPr>
                  <a:t> self-attention in the sequence length</a:t>
                </a:r>
              </a:p>
              <a:p>
                <a:pPr>
                  <a:lnSpc>
                    <a:spcPct val="124000"/>
                  </a:lnSpc>
                  <a:spcBef>
                    <a:spcPts val="1100"/>
                  </a:spcBef>
                </a:pPr>
                <a:r>
                  <a:rPr sz="1550" b="0" i="0" dirty="0">
                    <a:solidFill>
                      <a:srgbClr val="5B6570"/>
                    </a:solidFill>
                    <a:latin typeface="Segoe UI"/>
                  </a:rPr>
                  <a:t>      </a:t>
                </a:r>
                <a:r>
                  <a:rPr lang="he-IL" sz="1550" b="0" i="0" dirty="0">
                    <a:solidFill>
                      <a:srgbClr val="5B6570"/>
                    </a:solidFill>
                    <a:latin typeface="Segoe UI"/>
                  </a:rPr>
                  <a:t>-</a:t>
                </a:r>
                <a:r>
                  <a:rPr sz="1550" b="0" i="0" dirty="0">
                    <a:solidFill>
                      <a:srgbClr val="5B6570"/>
                    </a:solidFill>
                    <a:latin typeface="Segoe UI"/>
                  </a:rPr>
                  <a:t>  </a:t>
                </a:r>
                <a:r>
                  <a:rPr sz="1450" b="0" i="0" dirty="0">
                    <a:solidFill>
                      <a:srgbClr val="5B6570"/>
                    </a:solidFill>
                    <a:latin typeface="Segoe UI"/>
                  </a:rPr>
                  <a:t>large dense matrix multiplications in every encoder layer</a:t>
                </a:r>
              </a:p>
              <a:p>
                <a:pPr>
                  <a:lnSpc>
                    <a:spcPct val="124000"/>
                  </a:lnSpc>
                  <a:spcBef>
                    <a:spcPts val="1100"/>
                  </a:spcBef>
                </a:pPr>
                <a:r>
                  <a:rPr sz="1550" b="0" i="0" dirty="0">
                    <a:solidFill>
                      <a:srgbClr val="5B6570"/>
                    </a:solidFill>
                    <a:latin typeface="Segoe UI"/>
                  </a:rPr>
                  <a:t>      </a:t>
                </a:r>
                <a:r>
                  <a:rPr lang="he-IL" sz="1550" b="0" i="0" dirty="0">
                    <a:solidFill>
                      <a:srgbClr val="5B6570"/>
                    </a:solidFill>
                    <a:latin typeface="Segoe UI"/>
                  </a:rPr>
                  <a:t>-</a:t>
                </a:r>
                <a:r>
                  <a:rPr sz="1550" b="0" i="0" dirty="0">
                    <a:solidFill>
                      <a:srgbClr val="5B6570"/>
                    </a:solidFill>
                    <a:latin typeface="Segoe UI"/>
                  </a:rPr>
                  <a:t>  </a:t>
                </a:r>
                <a:r>
                  <a:rPr sz="1450" b="0" i="0" dirty="0">
                    <a:solidFill>
                      <a:srgbClr val="5B6570"/>
                    </a:solidFill>
                    <a:latin typeface="Segoe UI"/>
                  </a:rPr>
                  <a:t>non-linearities (</a:t>
                </a:r>
                <a:r>
                  <a:rPr sz="1450" b="0" i="0" dirty="0" err="1">
                    <a:solidFill>
                      <a:srgbClr val="5B6570"/>
                    </a:solidFill>
                    <a:latin typeface="Segoe UI"/>
                  </a:rPr>
                  <a:t>Softmax</a:t>
                </a:r>
                <a:r>
                  <a:rPr sz="1450" b="0" i="0" dirty="0">
                    <a:solidFill>
                      <a:srgbClr val="5B6570"/>
                    </a:solidFill>
                    <a:latin typeface="Segoe UI"/>
                  </a:rPr>
                  <a:t>, GELU) between those </a:t>
                </a:r>
                <a:r>
                  <a:rPr sz="1450" b="0" i="0" dirty="0" err="1">
                    <a:solidFill>
                      <a:srgbClr val="5B6570"/>
                    </a:solidFill>
                    <a:latin typeface="Segoe UI"/>
                  </a:rPr>
                  <a:t>matmuls</a:t>
                </a:r>
                <a:endParaRPr sz="1450" b="0" i="0" dirty="0">
                  <a:solidFill>
                    <a:srgbClr val="5B6570"/>
                  </a:solidFill>
                  <a:latin typeface="Segoe UI"/>
                </a:endParaRPr>
              </a:p>
              <a:p>
                <a:pPr>
                  <a:lnSpc>
                    <a:spcPct val="124000"/>
                  </a:lnSpc>
                  <a:spcBef>
                    <a:spcPts val="1100"/>
                  </a:spcBef>
                </a:pPr>
                <a:r>
                  <a:rPr sz="15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550" b="0" i="0" dirty="0">
                    <a:solidFill>
                      <a:srgbClr val="1B2430"/>
                    </a:solidFill>
                    <a:latin typeface="Segoe UI"/>
                  </a:rPr>
                  <a:t>Edge SoCs are simultaneously short on DRAM bandwidth, on-chip memory and power budget </a:t>
                </a:r>
                <a:r>
                  <a:rPr lang="he-IL" sz="1550" b="0" i="0" dirty="0">
                    <a:solidFill>
                      <a:srgbClr val="1B2430"/>
                    </a:solidFill>
                    <a:latin typeface="Segoe UI"/>
                  </a:rPr>
                  <a:t>-</a:t>
                </a:r>
                <a:r>
                  <a:rPr sz="1550" b="0" i="0" dirty="0">
                    <a:solidFill>
                      <a:srgbClr val="1B2430"/>
                    </a:solidFill>
                    <a:latin typeface="Segoe UI"/>
                  </a:rPr>
                  <a:t> exactly the resources Transformers stress.</a:t>
                </a:r>
              </a:p>
              <a:p>
                <a:pPr>
                  <a:lnSpc>
                    <a:spcPct val="124000"/>
                  </a:lnSpc>
                  <a:spcBef>
                    <a:spcPts val="1100"/>
                  </a:spcBef>
                </a:pPr>
                <a:r>
                  <a:rPr sz="15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550" b="0" i="0" dirty="0">
                    <a:solidFill>
                      <a:srgbClr val="1B2430"/>
                    </a:solidFill>
                    <a:latin typeface="Segoe UI"/>
                  </a:rPr>
                  <a:t>A general-purpose CPU/GPU wastes energy on control and data movement; a dedicated </a:t>
                </a:r>
                <a:r>
                  <a:rPr sz="1550" b="0" i="0" dirty="0" err="1">
                    <a:solidFill>
                      <a:srgbClr val="1B2430"/>
                    </a:solidFill>
                    <a:latin typeface="Segoe UI"/>
                  </a:rPr>
                  <a:t>datapath</a:t>
                </a:r>
                <a:r>
                  <a:rPr sz="1550" b="0" i="0" dirty="0">
                    <a:solidFill>
                      <a:srgbClr val="1B2430"/>
                    </a:solidFill>
                    <a:latin typeface="Segoe UI"/>
                  </a:rPr>
                  <a:t> does not </a:t>
                </a:r>
                <a:r>
                  <a:rPr lang="he-IL" sz="1550" b="0" i="0" dirty="0">
                    <a:solidFill>
                      <a:srgbClr val="1B2430"/>
                    </a:solidFill>
                    <a:latin typeface="Segoe UI"/>
                  </a:rPr>
                  <a:t>-</a:t>
                </a:r>
                <a:r>
                  <a:rPr sz="1550" b="0" i="0" dirty="0">
                    <a:solidFill>
                      <a:srgbClr val="1B2430"/>
                    </a:solidFill>
                    <a:latin typeface="Segoe UI"/>
                  </a:rPr>
                  <a:t> a computer-engineering problem: co-design the arithmetic, the data movement and the silicon together.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1508760"/>
                <a:ext cx="6903720" cy="4459234"/>
              </a:xfrm>
              <a:prstGeom prst="rect">
                <a:avLst/>
              </a:prstGeom>
              <a:blipFill>
                <a:blip r:embed="rId3"/>
                <a:stretch>
                  <a:fillRect l="-442" b="-54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7955279" y="1554480"/>
            <a:ext cx="3611880" cy="4526280"/>
          </a:xfrm>
          <a:prstGeom prst="roundRect">
            <a:avLst>
              <a:gd name="adj" fmla="val 6000"/>
            </a:avLst>
          </a:prstGeom>
          <a:solidFill>
            <a:srgbClr val="ECEEF1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154680" cy="30943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 dirty="0">
                <a:solidFill>
                  <a:srgbClr val="1B2430"/>
                </a:solidFill>
                <a:latin typeface="Segoe UI"/>
              </a:rPr>
              <a:t>Why an FPGA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50" b="0" i="0" dirty="0">
                <a:solidFill>
                  <a:srgbClr val="5B6570"/>
                </a:solidFill>
                <a:latin typeface="Segoe UI"/>
              </a:rPr>
              <a:t>▸  Custom INT8 </a:t>
            </a:r>
            <a:r>
              <a:rPr sz="1250" b="0" i="0" dirty="0" err="1">
                <a:solidFill>
                  <a:srgbClr val="5B6570"/>
                </a:solidFill>
                <a:latin typeface="Segoe UI"/>
              </a:rPr>
              <a:t>datapath</a:t>
            </a:r>
            <a:r>
              <a:rPr sz="1250" b="0" i="0" dirty="0">
                <a:solidFill>
                  <a:srgbClr val="5B6570"/>
                </a:solidFill>
                <a:latin typeface="Segoe UI"/>
              </a:rPr>
              <a:t>, no ISA overhead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50" b="0" i="0" dirty="0">
                <a:solidFill>
                  <a:srgbClr val="5B6570"/>
                </a:solidFill>
                <a:latin typeface="Segoe UI"/>
              </a:rPr>
              <a:t>▸  Hard DSP + BRAM blocks map </a:t>
            </a:r>
            <a:r>
              <a:rPr sz="1250" b="0" i="0" dirty="0" err="1">
                <a:solidFill>
                  <a:srgbClr val="5B6570"/>
                </a:solidFill>
                <a:latin typeface="Segoe UI"/>
              </a:rPr>
              <a:t>matmul</a:t>
            </a:r>
            <a:r>
              <a:rPr sz="1250" b="0" i="0" dirty="0">
                <a:solidFill>
                  <a:srgbClr val="5B6570"/>
                </a:solidFill>
                <a:latin typeface="Segoe UI"/>
              </a:rPr>
              <a:t> directly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50" b="0" i="0" dirty="0">
                <a:solidFill>
                  <a:srgbClr val="5B6570"/>
                </a:solidFill>
                <a:latin typeface="Segoe UI"/>
              </a:rPr>
              <a:t>▸  Reprogrammable </a:t>
            </a:r>
            <a:r>
              <a:rPr lang="he-IL" sz="1250" b="0" i="0" dirty="0">
                <a:solidFill>
                  <a:srgbClr val="5B6570"/>
                </a:solidFill>
                <a:latin typeface="Segoe UI"/>
              </a:rPr>
              <a:t>-</a:t>
            </a:r>
            <a:r>
              <a:rPr sz="1250" b="0" i="0" dirty="0">
                <a:solidFill>
                  <a:srgbClr val="5B6570"/>
                </a:solidFill>
                <a:latin typeface="Segoe UI"/>
              </a:rPr>
              <a:t> an academic-scale ASIC proxy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50" b="0" i="0" dirty="0">
                <a:solidFill>
                  <a:srgbClr val="5B6570"/>
                </a:solidFill>
                <a:latin typeface="Segoe UI"/>
              </a:rPr>
              <a:t>▸  Commodity board: PYNQ-Z2, ~$199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200" b="0" i="0" dirty="0">
                <a:solidFill>
                  <a:srgbClr val="1B2430"/>
                </a:solidFill>
                <a:latin typeface="Segoe UI"/>
              </a:rPr>
              <a:t>Builds on prior FPGA transformer accelerators (ME-</a:t>
            </a:r>
            <a:r>
              <a:rPr sz="1200" b="0" i="0" dirty="0" err="1">
                <a:solidFill>
                  <a:srgbClr val="1B2430"/>
                </a:solidFill>
                <a:latin typeface="Segoe UI"/>
              </a:rPr>
              <a:t>ViT</a:t>
            </a:r>
            <a:r>
              <a:rPr sz="1200" b="0" i="0" dirty="0">
                <a:solidFill>
                  <a:srgbClr val="1B2430"/>
                </a:solidFill>
                <a:latin typeface="Segoe UI"/>
              </a:rPr>
              <a:t>, FTRANS, systolic-array designs) </a:t>
            </a:r>
            <a:r>
              <a:rPr lang="he-IL" sz="1200" b="0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200" b="0" i="0" dirty="0">
                <a:solidFill>
                  <a:srgbClr val="1B2430"/>
                </a:solidFill>
                <a:latin typeface="Segoe UI"/>
              </a:rPr>
              <a:t> same design family, embedded-scale 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"/>
            <a:ext cx="9052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077E0"/>
                </a:solidFill>
                <a:latin typeface="Segoe UI"/>
              </a:rPr>
              <a:t>1 · PRELIMINARIES (SELF-CONTAINED)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Three ideas the rest of the talk builds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36192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536192"/>
            <a:ext cx="3566160" cy="566928"/>
          </a:xfrm>
          <a:prstGeom prst="roundRect">
            <a:avLst>
              <a:gd name="adj" fmla="val 12000"/>
            </a:avLst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536192"/>
            <a:ext cx="356616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Self-attention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14400" y="2377440"/>
                <a:ext cx="3063240" cy="23321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2000"/>
                  </a:lnSpc>
                  <a:spcBef>
                    <a:spcPts val="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Every token attends to every other token.</a:t>
                </a:r>
              </a:p>
              <a:p>
                <a:pPr>
                  <a:lnSpc>
                    <a:spcPct val="122000"/>
                  </a:lnSpc>
                  <a:spcBef>
                    <a:spcPts val="100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14:m>
                  <m:oMath xmlns:m="http://schemas.openxmlformats.org/officeDocument/2006/math"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𝐾𝑇</m:t>
                    </m:r>
                    <m:r>
                      <a:rPr lang="he-IL" sz="1250" b="0" i="1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→  scale  →  </a:t>
                </a:r>
                <a:r>
                  <a:rPr sz="1250" b="0" i="0" dirty="0" err="1">
                    <a:solidFill>
                      <a:srgbClr val="1B2430"/>
                    </a:solidFill>
                    <a:latin typeface="Segoe UI"/>
                  </a:rPr>
                  <a:t>Softmax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  →  weighted sum of </a:t>
                </a:r>
                <a:r>
                  <a:rPr sz="1250" b="0" i="1" dirty="0">
                    <a:solidFill>
                      <a:srgbClr val="1B2430"/>
                    </a:solidFill>
                    <a:latin typeface="Segoe UI"/>
                  </a:rPr>
                  <a:t>V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.</a:t>
                </a:r>
              </a:p>
              <a:p>
                <a:pPr>
                  <a:lnSpc>
                    <a:spcPct val="122000"/>
                  </a:lnSpc>
                  <a:spcBef>
                    <a:spcPts val="100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Then a position-wise MLP with a GELU.</a:t>
                </a:r>
              </a:p>
              <a:p>
                <a:pPr>
                  <a:lnSpc>
                    <a:spcPct val="122000"/>
                  </a:lnSpc>
                  <a:spcBef>
                    <a:spcPts val="100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Cost is </a:t>
                </a:r>
                <a14:m>
                  <m:oMath xmlns:m="http://schemas.openxmlformats.org/officeDocument/2006/math"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he-IL" sz="1000" b="0" i="1" baseline="33000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he-IL" sz="1250" b="0" i="1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MACs </a:t>
                </a:r>
                <a:r>
                  <a:rPr lang="he-IL" sz="1250" b="0" i="0" dirty="0">
                    <a:solidFill>
                      <a:srgbClr val="1B2430"/>
                    </a:solidFill>
                    <a:latin typeface="Segoe UI"/>
                  </a:rPr>
                  <a:t>-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 the quadratic term.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377440"/>
                <a:ext cx="3063240" cy="2332113"/>
              </a:xfrm>
              <a:prstGeom prst="rect">
                <a:avLst/>
              </a:prstGeom>
              <a:blipFill>
                <a:blip r:embed="rId3"/>
                <a:stretch>
                  <a:fillRect l="-199" b="-104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/>
          <p:cNvSpPr/>
          <p:nvPr/>
        </p:nvSpPr>
        <p:spPr>
          <a:xfrm>
            <a:off x="4361688" y="1536192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61688" y="1536192"/>
            <a:ext cx="3566160" cy="566928"/>
          </a:xfrm>
          <a:prstGeom prst="roundRect">
            <a:avLst>
              <a:gd name="adj" fmla="val 12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61688" y="1536192"/>
            <a:ext cx="356616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INT8 quantization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636008" y="2377440"/>
                <a:ext cx="3063240" cy="1862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2000"/>
                  </a:lnSpc>
                  <a:spcBef>
                    <a:spcPts val="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Store each value as a signed 8-bit int + a shared power-of-two scale.</a:t>
                </a:r>
              </a:p>
              <a:p>
                <a:pPr>
                  <a:lnSpc>
                    <a:spcPct val="122000"/>
                  </a:lnSpc>
                  <a:spcBef>
                    <a:spcPts val="100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14:m>
                  <m:oMath xmlns:m="http://schemas.openxmlformats.org/officeDocument/2006/math"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 ≈  </m:t>
                    </m:r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𝑟𝑜𝑢𝑛𝑑</m:t>
                    </m:r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/ </m:t>
                    </m:r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𝑠𝑐𝑎𝑙𝑒</m:t>
                    </m:r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sz="1250" b="0" i="0" dirty="0">
                  <a:solidFill>
                    <a:srgbClr val="1B2430"/>
                  </a:solidFill>
                  <a:latin typeface="Segoe UI"/>
                </a:endParaRPr>
              </a:p>
              <a:p>
                <a:pPr>
                  <a:lnSpc>
                    <a:spcPct val="122000"/>
                  </a:lnSpc>
                  <a:spcBef>
                    <a:spcPts val="100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INT8 × INT8  →  wide product  →  round-half-up &amp; saturate to [</a:t>
                </a:r>
                <a:r>
                  <a:rPr lang="he-IL" sz="1250" b="0" i="0" dirty="0">
                    <a:solidFill>
                      <a:srgbClr val="1B2430"/>
                    </a:solidFill>
                    <a:latin typeface="Segoe UI"/>
                  </a:rPr>
                  <a:t>-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128, 127].</a:t>
                </a:r>
              </a:p>
              <a:p>
                <a:pPr>
                  <a:lnSpc>
                    <a:spcPct val="122000"/>
                  </a:lnSpc>
                  <a:spcBef>
                    <a:spcPts val="100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⅓ the memory bandwidth of FP32.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008" y="2377440"/>
                <a:ext cx="3063240" cy="1862882"/>
              </a:xfrm>
              <a:prstGeom prst="rect">
                <a:avLst/>
              </a:prstGeom>
              <a:blipFill>
                <a:blip r:embed="rId4"/>
                <a:stretch>
                  <a:fillRect l="-199" b="-163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8083296" y="1536192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83296" y="1536192"/>
            <a:ext cx="3566160" cy="566928"/>
          </a:xfrm>
          <a:prstGeom prst="roundRect">
            <a:avLst>
              <a:gd name="adj" fmla="val 12000"/>
            </a:avLst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83296" y="1536192"/>
            <a:ext cx="3566160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Systolic array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377440"/>
            <a:ext cx="3063240" cy="233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50" b="1" i="0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2D grid of tiny multiply-accumulate PEs.</a:t>
            </a:r>
          </a:p>
          <a:p>
            <a:pPr>
              <a:lnSpc>
                <a:spcPct val="122000"/>
              </a:lnSpc>
              <a:spcBef>
                <a:spcPts val="1000"/>
              </a:spcBef>
            </a:pPr>
            <a:r>
              <a:rPr sz="1250" b="1" i="0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Operands stream through </a:t>
            </a:r>
            <a:r>
              <a:rPr sz="1250" b="0" i="0" dirty="0" err="1">
                <a:solidFill>
                  <a:srgbClr val="1B2430"/>
                </a:solidFill>
                <a:latin typeface="Segoe UI"/>
              </a:rPr>
              <a:t>neighbours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 only </a:t>
            </a:r>
            <a:r>
              <a:rPr lang="he-IL" sz="1250" b="0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 no global memory, short wires.</a:t>
            </a:r>
          </a:p>
          <a:p>
            <a:pPr>
              <a:lnSpc>
                <a:spcPct val="122000"/>
              </a:lnSpc>
              <a:spcBef>
                <a:spcPts val="1000"/>
              </a:spcBef>
            </a:pPr>
            <a:r>
              <a:rPr sz="1250" b="1" i="0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Weight-stationary: each PE holds one weight while features stream past.</a:t>
            </a:r>
          </a:p>
          <a:p>
            <a:pPr>
              <a:lnSpc>
                <a:spcPct val="122000"/>
              </a:lnSpc>
              <a:spcBef>
                <a:spcPts val="1000"/>
              </a:spcBef>
            </a:pPr>
            <a:r>
              <a:rPr sz="1250" b="1" i="0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Matches the Transformer's weight-reuse pattern.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5B6570"/>
                </a:solidFill>
                <a:latin typeface="Segoe UI"/>
              </a:rPr>
              <a:t>These three primitives are the whole talk: matmul + Softmax + GELU, in INT8, on a systolic array.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"/>
            <a:ext cx="9052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077E0"/>
                </a:solidFill>
                <a:latin typeface="Segoe UI"/>
              </a:rPr>
              <a:t>2 · THE CORE ISSUE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1737360"/>
            <a:ext cx="9875520" cy="87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 dirty="0">
                <a:solidFill>
                  <a:srgbClr val="FFFFFF"/>
                </a:solidFill>
                <a:latin typeface="Segoe UI"/>
              </a:rPr>
              <a:t>Run the compute-dominant primitives of a Transformer block </a:t>
            </a:r>
            <a:r>
              <a:rPr lang="he-IL" sz="1550" b="1" i="0" dirty="0">
                <a:solidFill>
                  <a:srgbClr val="FFFFFF"/>
                </a:solidFill>
                <a:latin typeface="Segoe UI"/>
              </a:rPr>
              <a:t>-</a:t>
            </a:r>
            <a:r>
              <a:rPr sz="1550" b="1" i="0" dirty="0">
                <a:solidFill>
                  <a:srgbClr val="FFFFFF"/>
                </a:solidFill>
                <a:latin typeface="Segoe UI"/>
              </a:rPr>
              <a:t> dense </a:t>
            </a:r>
            <a:r>
              <a:rPr sz="1550" b="1" i="0" dirty="0" err="1">
                <a:solidFill>
                  <a:srgbClr val="FFFFFF"/>
                </a:solidFill>
                <a:latin typeface="Segoe UI"/>
              </a:rPr>
              <a:t>matmul</a:t>
            </a:r>
            <a:r>
              <a:rPr sz="1550" b="1" i="0" dirty="0">
                <a:solidFill>
                  <a:srgbClr val="FFFFFF"/>
                </a:solidFill>
                <a:latin typeface="Segoe UI"/>
              </a:rPr>
              <a:t> plus its </a:t>
            </a:r>
            <a:r>
              <a:rPr sz="1550" b="1" i="0" dirty="0" err="1">
                <a:solidFill>
                  <a:srgbClr val="FFFFFF"/>
                </a:solidFill>
                <a:latin typeface="Segoe UI"/>
              </a:rPr>
              <a:t>Softmax</a:t>
            </a:r>
            <a:r>
              <a:rPr sz="1550" b="1" i="0" dirty="0">
                <a:solidFill>
                  <a:srgbClr val="FFFFFF"/>
                </a:solidFill>
                <a:latin typeface="Segoe UI"/>
              </a:rPr>
              <a:t> / GELU non-linearities </a:t>
            </a:r>
            <a:r>
              <a:rPr lang="he-IL" sz="1550" b="1" i="0" dirty="0">
                <a:solidFill>
                  <a:srgbClr val="FFFFFF"/>
                </a:solidFill>
                <a:latin typeface="Segoe UI"/>
              </a:rPr>
              <a:t>-</a:t>
            </a:r>
            <a:r>
              <a:rPr sz="1550" b="1" i="0" dirty="0">
                <a:solidFill>
                  <a:srgbClr val="FFFFFF"/>
                </a:solidFill>
                <a:latin typeface="Segoe UI"/>
              </a:rPr>
              <a:t> as a dedicated, numerically-verified INT8 </a:t>
            </a:r>
            <a:r>
              <a:rPr sz="1550" b="1" i="0" dirty="0" err="1">
                <a:solidFill>
                  <a:srgbClr val="FFFFFF"/>
                </a:solidFill>
                <a:latin typeface="Segoe UI"/>
              </a:rPr>
              <a:t>datapath</a:t>
            </a:r>
            <a:r>
              <a:rPr sz="1550" b="1" i="0" dirty="0">
                <a:solidFill>
                  <a:srgbClr val="FFFFFF"/>
                </a:solidFill>
                <a:latin typeface="Segoe UI"/>
              </a:rPr>
              <a:t> on a commodity 220-DSP edge FPGA, and prove the speed-up is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10515600" cy="1878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600" dirty="0">
                <a:solidFill>
                  <a:srgbClr val="1B2430"/>
                </a:solidFill>
                <a:latin typeface="Segoe UI"/>
              </a:rPr>
              <a:t>FP32 inference is infeasible on an embedded FPGA </a:t>
            </a:r>
            <a:r>
              <a:rPr lang="he-IL" sz="1600" dirty="0">
                <a:solidFill>
                  <a:srgbClr val="1B2430"/>
                </a:solidFill>
                <a:latin typeface="Segoe UI"/>
              </a:rPr>
              <a:t>-</a:t>
            </a:r>
            <a:r>
              <a:rPr sz="1600" dirty="0">
                <a:solidFill>
                  <a:srgbClr val="1B2430"/>
                </a:solidFill>
                <a:latin typeface="Segoe UI"/>
              </a:rPr>
              <a:t> every MAC costs more logic, every value costs 4× the bandwidth.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600" dirty="0">
                <a:solidFill>
                  <a:srgbClr val="1B2430"/>
                </a:solidFill>
                <a:latin typeface="Segoe UI"/>
              </a:rPr>
              <a:t>A correct accelerator is not enough: it has to be verified against a ground-truth model at every layer (RTL, integration, silicon).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600" dirty="0">
                <a:solidFill>
                  <a:srgbClr val="1B2430"/>
                </a:solidFill>
                <a:latin typeface="Segoe UI"/>
              </a:rPr>
              <a:t>And the reported gain must correspond to an operation the hardware can actually perform correctly </a:t>
            </a:r>
            <a:r>
              <a:rPr lang="he-IL" sz="1600" dirty="0">
                <a:solidFill>
                  <a:srgbClr val="1B2430"/>
                </a:solidFill>
                <a:latin typeface="Segoe UI"/>
              </a:rPr>
              <a:t>-</a:t>
            </a:r>
            <a:r>
              <a:rPr sz="1600" dirty="0">
                <a:solidFill>
                  <a:srgbClr val="1B2430"/>
                </a:solidFill>
                <a:latin typeface="Segoe UI"/>
              </a:rPr>
              <a:t> not an impressive-looking number that hides a broken computation.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"/>
            <a:ext cx="9052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077E0"/>
                </a:solidFill>
                <a:latin typeface="Segoe UI"/>
              </a:rPr>
              <a:t>3 · GENERAL &amp; SPECIFIC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6304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ECEEF1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600200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077E0"/>
                </a:solidFill>
                <a:latin typeface="Segoe UI"/>
              </a:rPr>
              <a:t>General  </a:t>
            </a:r>
            <a:r>
              <a:rPr sz="1300" b="0" i="0">
                <a:solidFill>
                  <a:srgbClr val="1B2430"/>
                </a:solidFill>
                <a:latin typeface="Segoe UI"/>
              </a:rPr>
              <a:t>Design, implement and quantitatively evaluate a complete hardware accelerator for a Transformer block's dominant primitives on a resource-constrained edge FPGA, and demonstrate measurable latency / throughput / energy gains over a CPU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43200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658368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O1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706624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INT8 weight-stationary 16×16 systolic matmul core with fused fixed-point Softmax and GELU engines, formalised as exact fixed-point equations.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93008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493008"/>
            <a:ext cx="658368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56432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Tolerance-bounded verification: SystemVerilog testbenches + a bit-faithful Python/NumPy golden model carried to silicon.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42816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242816"/>
            <a:ext cx="658368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O3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06240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Integrate the core as an AXI peripheral on a Zynq-7020 (PYNQ-Z2) SoC and bring it up on real hardware.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992624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4992624"/>
            <a:ext cx="658368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O4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956048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Close physical timing at 100 MHz and optimise post-route resource / power at signoff.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742432"/>
            <a:ext cx="658368" cy="658368"/>
          </a:xfrm>
          <a:prstGeom prst="roundRect">
            <a:avLst>
              <a:gd name="adj" fmla="val 20000"/>
            </a:avLst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" y="5742432"/>
            <a:ext cx="658368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O5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705856"/>
            <a:ext cx="9692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1B2430"/>
                </a:solidFill>
                <a:latin typeface="Segoe UI"/>
              </a:rPr>
              <a:t>Benchmark the hardware kernel against the on-chip ARM Cortex-A9 and characterise the result honestly against real ViT workloads.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"/>
            <a:ext cx="9052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077E0"/>
                </a:solidFill>
                <a:latin typeface="Segoe UI"/>
              </a:rPr>
              <a:t>4 · WHAT THIS PROJECT IS AND IS NOT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Scope &amp; boundaries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39496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394960" cy="548640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463040"/>
            <a:ext cx="53949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945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077E0"/>
                </a:solidFill>
                <a:latin typeface="Segoe UI"/>
              </a:rPr>
              <a:t>▸  </a:t>
            </a:r>
            <a:r>
              <a:rPr sz="1250">
                <a:solidFill>
                  <a:srgbClr val="1B2430"/>
                </a:solidFill>
                <a:latin typeface="Segoe UI"/>
              </a:rPr>
              <a:t>Fused matmul → Softmax → GELU streaming pipeline</a:t>
            </a:r>
          </a:p>
          <a:p>
            <a:pPr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2077E0"/>
                </a:solidFill>
                <a:latin typeface="Segoe UI"/>
              </a:rPr>
              <a:t>▸  </a:t>
            </a:r>
            <a:r>
              <a:rPr sz="1250">
                <a:solidFill>
                  <a:srgbClr val="1B2430"/>
                </a:solidFill>
                <a:latin typeface="Segoe UI"/>
              </a:rPr>
              <a:t>INT8, weight-stationary, 16×16 systolic array (256 MACs)</a:t>
            </a:r>
          </a:p>
          <a:p>
            <a:pPr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2077E0"/>
                </a:solidFill>
                <a:latin typeface="Segoe UI"/>
              </a:rPr>
              <a:t>▸  </a:t>
            </a:r>
            <a:r>
              <a:rPr sz="1250">
                <a:solidFill>
                  <a:srgbClr val="1B2430"/>
                </a:solidFill>
                <a:latin typeface="Segoe UI"/>
              </a:rPr>
              <a:t>Xilinx Zynq-7020 / PYNQ-Z2, 100 MHz</a:t>
            </a:r>
          </a:p>
          <a:p>
            <a:pPr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2077E0"/>
                </a:solidFill>
                <a:latin typeface="Segoe UI"/>
              </a:rPr>
              <a:t>▸  </a:t>
            </a:r>
            <a:r>
              <a:rPr sz="1250">
                <a:solidFill>
                  <a:srgbClr val="1B2430"/>
                </a:solidFill>
                <a:latin typeface="Segoe UI"/>
              </a:rPr>
              <a:t>RTL flow (SystemVerilog / Verilog), not HLS</a:t>
            </a:r>
          </a:p>
          <a:p>
            <a:pPr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2077E0"/>
                </a:solidFill>
                <a:latin typeface="Segoe UI"/>
              </a:rPr>
              <a:t>▸  </a:t>
            </a:r>
            <a:r>
              <a:rPr sz="1250">
                <a:solidFill>
                  <a:srgbClr val="1B2430"/>
                </a:solidFill>
                <a:latin typeface="Segoe UI"/>
              </a:rPr>
              <a:t>Kernel-level benchmark vs. the board's ARM Cortex-A9</a:t>
            </a:r>
          </a:p>
          <a:p>
            <a:pPr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>
                <a:solidFill>
                  <a:srgbClr val="2077E0"/>
                </a:solidFill>
                <a:latin typeface="Segoe UI"/>
              </a:rPr>
              <a:t>▸  </a:t>
            </a:r>
            <a:r>
              <a:rPr sz="1250">
                <a:solidFill>
                  <a:srgbClr val="1B2430"/>
                </a:solidFill>
                <a:latin typeface="Segoe UI"/>
              </a:rPr>
              <a:t>Full physical signoff + bitstream + silicon bring-up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6304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80" y="1463040"/>
            <a:ext cx="5120640" cy="548640"/>
          </a:xfrm>
          <a:prstGeom prst="roundRect">
            <a:avLst>
              <a:gd name="adj" fmla="val 12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63040"/>
            <a:ext cx="5120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OUT OF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4663440" cy="220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50" dirty="0">
                <a:solidFill>
                  <a:srgbClr val="1B2430"/>
                </a:solidFill>
                <a:latin typeface="Segoe UI"/>
              </a:rPr>
              <a:t>End-to-end accelerated </a:t>
            </a:r>
            <a:r>
              <a:rPr sz="1250" dirty="0" err="1">
                <a:solidFill>
                  <a:srgbClr val="1B2430"/>
                </a:solidFill>
                <a:latin typeface="Segoe UI"/>
              </a:rPr>
              <a:t>ViT</a:t>
            </a:r>
            <a:r>
              <a:rPr sz="1250" dirty="0">
                <a:solidFill>
                  <a:srgbClr val="1B2430"/>
                </a:solidFill>
                <a:latin typeface="Segoe UI"/>
              </a:rPr>
              <a:t> inference (fixed pipeline maps to no single </a:t>
            </a:r>
            <a:r>
              <a:rPr sz="1250" dirty="0" err="1">
                <a:solidFill>
                  <a:srgbClr val="1B2430"/>
                </a:solidFill>
                <a:latin typeface="Segoe UI"/>
              </a:rPr>
              <a:t>ViT</a:t>
            </a:r>
            <a:r>
              <a:rPr sz="1250" dirty="0">
                <a:solidFill>
                  <a:srgbClr val="1B2430"/>
                </a:solidFill>
                <a:latin typeface="Segoe UI"/>
              </a:rPr>
              <a:t> sub-block </a:t>
            </a:r>
            <a:r>
              <a:rPr lang="he-IL" sz="1250" dirty="0">
                <a:solidFill>
                  <a:srgbClr val="1B2430"/>
                </a:solidFill>
                <a:latin typeface="Segoe UI"/>
              </a:rPr>
              <a:t>-</a:t>
            </a:r>
            <a:r>
              <a:rPr sz="1250" dirty="0">
                <a:solidFill>
                  <a:srgbClr val="1B2430"/>
                </a:solidFill>
                <a:latin typeface="Segoe UI"/>
              </a:rPr>
              <a:t> slide 18)</a:t>
            </a:r>
          </a:p>
          <a:p>
            <a:pPr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50" dirty="0">
                <a:solidFill>
                  <a:srgbClr val="1B2430"/>
                </a:solidFill>
                <a:latin typeface="Segoe UI"/>
              </a:rPr>
              <a:t>Batch processing &amp; the full 768-wide </a:t>
            </a:r>
            <a:r>
              <a:rPr sz="1250" dirty="0" err="1">
                <a:solidFill>
                  <a:srgbClr val="1B2430"/>
                </a:solidFill>
                <a:latin typeface="Segoe UI"/>
              </a:rPr>
              <a:t>ViT</a:t>
            </a:r>
            <a:r>
              <a:rPr sz="1250" dirty="0">
                <a:solidFill>
                  <a:srgbClr val="1B2430"/>
                </a:solidFill>
                <a:latin typeface="Segoe UI"/>
              </a:rPr>
              <a:t>-Tiny MLP (64 KB DMA ceiling)</a:t>
            </a:r>
          </a:p>
          <a:p>
            <a:pPr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50" dirty="0">
                <a:solidFill>
                  <a:srgbClr val="1B2430"/>
                </a:solidFill>
                <a:latin typeface="Segoe UI"/>
              </a:rPr>
              <a:t>Training / back-propagation</a:t>
            </a:r>
          </a:p>
          <a:p>
            <a:pPr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50" dirty="0">
                <a:solidFill>
                  <a:srgbClr val="1B2430"/>
                </a:solidFill>
                <a:latin typeface="Segoe UI"/>
              </a:rPr>
              <a:t>Datacenter-class FPGAs and multi-device scaling</a:t>
            </a:r>
          </a:p>
          <a:p>
            <a:pPr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50" dirty="0">
                <a:solidFill>
                  <a:srgbClr val="1B2430"/>
                </a:solidFill>
                <a:latin typeface="Segoe UI"/>
              </a:rPr>
              <a:t>Physically-instrumented power measurement (signoff-grade estimate used)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"/>
            <a:ext cx="9052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077E0"/>
                </a:solidFill>
                <a:latin typeface="Segoe UI"/>
              </a:rPr>
              <a:t>5 · CO-DESIGN FLOW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Methodology: a verify-every-layer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1395113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1395113" cy="2331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050" b="1" i="0" dirty="0">
                <a:solidFill>
                  <a:srgbClr val="1B2430"/>
                </a:solidFill>
                <a:latin typeface="Segoe UI"/>
              </a:rPr>
              <a:t>Fixed-point
math (Eq. 1</a:t>
            </a:r>
            <a:r>
              <a:rPr lang="he-IL" sz="1050" b="1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050" b="1" i="0" dirty="0">
                <a:solidFill>
                  <a:srgbClr val="1B2430"/>
                </a:solidFill>
                <a:latin typeface="Segoe UI"/>
              </a:rPr>
              <a:t>2)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16905" y="2542032"/>
            <a:ext cx="237744" cy="365760"/>
          </a:xfrm>
          <a:prstGeom prst="rightArrow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236361" y="1554480"/>
            <a:ext cx="1395113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6361" y="1554480"/>
            <a:ext cx="1395113" cy="2331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B2430"/>
                </a:solidFill>
                <a:latin typeface="Segoe UI"/>
              </a:rPr>
              <a:t>RTL +
SystemVerilog
testbenches
(Cadence Xcelium)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13186" y="2542032"/>
            <a:ext cx="237744" cy="365760"/>
          </a:xfrm>
          <a:prstGeom prst="rightArrow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832642" y="1554480"/>
            <a:ext cx="1395113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32642" y="1554480"/>
            <a:ext cx="1395113" cy="2331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B2430"/>
                </a:solidFill>
                <a:latin typeface="Segoe UI"/>
              </a:rPr>
              <a:t>Python / NumPy
bit-faithful
golden model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09467" y="2542032"/>
            <a:ext cx="237744" cy="365760"/>
          </a:xfrm>
          <a:prstGeom prst="rightArrow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28923" y="1554480"/>
            <a:ext cx="1395113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28923" y="1554480"/>
            <a:ext cx="1395113" cy="2331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B2430"/>
                </a:solidFill>
                <a:latin typeface="Segoe UI"/>
              </a:rPr>
              <a:t>SoC integration
(Vivado IP
Integrator)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05748" y="2542032"/>
            <a:ext cx="237744" cy="365760"/>
          </a:xfrm>
          <a:prstGeom prst="rightArrow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025204" y="1554480"/>
            <a:ext cx="1395113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25204" y="1554480"/>
            <a:ext cx="1395113" cy="2331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B2430"/>
                </a:solidFill>
                <a:latin typeface="Segoe UI"/>
              </a:rPr>
              <a:t>P&amp;R + physical
signoff
(timing, power)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402029" y="2542032"/>
            <a:ext cx="237744" cy="365760"/>
          </a:xfrm>
          <a:prstGeom prst="rightArrow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21485" y="1554480"/>
            <a:ext cx="1395113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21485" y="1554480"/>
            <a:ext cx="1395113" cy="2331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B2430"/>
                </a:solidFill>
                <a:latin typeface="Segoe UI"/>
              </a:rPr>
              <a:t>Bitstream +
hardware
platform (.xsa)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998310" y="2542032"/>
            <a:ext cx="237744" cy="365760"/>
          </a:xfrm>
          <a:prstGeom prst="rightArrow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217766" y="1554480"/>
            <a:ext cx="1395113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217766" y="1554480"/>
            <a:ext cx="1395113" cy="23317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B2430"/>
                </a:solidFill>
                <a:latin typeface="Segoe UI"/>
              </a:rPr>
              <a:t>PYNQ-Z2
silicon bring-up
&amp; benchmark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343400"/>
            <a:ext cx="10972800" cy="1828800"/>
          </a:xfrm>
          <a:prstGeom prst="roundRect">
            <a:avLst>
              <a:gd name="adj" fmla="val 6000"/>
            </a:avLst>
          </a:prstGeom>
          <a:solidFill>
            <a:srgbClr val="ECEEF1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526280"/>
            <a:ext cx="10424160" cy="12454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 dirty="0">
                <a:solidFill>
                  <a:srgbClr val="E8703A"/>
                </a:solidFill>
                <a:latin typeface="Segoe UI"/>
              </a:rPr>
              <a:t>Governing discipline:  </a:t>
            </a:r>
            <a:r>
              <a:rPr sz="1300" b="0" i="0" dirty="0">
                <a:solidFill>
                  <a:srgbClr val="1B2430"/>
                </a:solidFill>
                <a:latin typeface="Segoe UI"/>
              </a:rPr>
              <a:t>every layer is checked against its own reference, never assumed correct because the layer below it passed. The </a:t>
            </a:r>
            <a:r>
              <a:rPr sz="1300" b="0" i="0" dirty="0" err="1">
                <a:solidFill>
                  <a:srgbClr val="1B2430"/>
                </a:solidFill>
                <a:latin typeface="Segoe UI"/>
              </a:rPr>
              <a:t>SystemVerilog</a:t>
            </a:r>
            <a:r>
              <a:rPr sz="1300" b="0" i="0" dirty="0">
                <a:solidFill>
                  <a:srgbClr val="1B2430"/>
                </a:solidFill>
                <a:latin typeface="Segoe UI"/>
              </a:rPr>
              <a:t> golden model is re-derived in NumPy and cross-checked against the RTL shifter's exact rounding before it is trusted to validate silicon.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200" b="0" i="0" dirty="0">
                <a:solidFill>
                  <a:srgbClr val="5B6570"/>
                </a:solidFill>
                <a:latin typeface="Segoe UI"/>
              </a:rPr>
              <a:t>Verification is tolerance-bounded (scale-dependent LSB threshold), not exact-match </a:t>
            </a:r>
            <a:r>
              <a:rPr lang="he-IL" sz="1200" b="0" i="0" dirty="0">
                <a:solidFill>
                  <a:srgbClr val="5B6570"/>
                </a:solidFill>
                <a:latin typeface="Segoe UI"/>
              </a:rPr>
              <a:t>-</a:t>
            </a:r>
            <a:r>
              <a:rPr sz="1200" b="0" i="0" dirty="0">
                <a:solidFill>
                  <a:srgbClr val="5B6570"/>
                </a:solidFill>
                <a:latin typeface="Segoe UI"/>
              </a:rPr>
              <a:t> to absorb quantization-error compounding across two INT8 boundaries.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6 · SYSTOLIC MATMUL CORE (MM_ULTRA)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Core architecture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the processing element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5" y="1546061"/>
            <a:ext cx="6876288" cy="44059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pe_microarch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925"/>
            <a:ext cx="6766560" cy="42962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635240" y="1600200"/>
                <a:ext cx="3977639" cy="31230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14:m>
                  <m:oMath xmlns:m="http://schemas.openxmlformats.org/officeDocument/2006/math"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16 × 16 </m:t>
                    </m:r>
                  </m:oMath>
                </a14:m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grid  →  256 INT8 MACs, one MAC / PE / cycle.</a:t>
                </a:r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Weight-stationary: </a:t>
                </a:r>
                <a:r>
                  <a:rPr sz="1250" b="0" i="1" dirty="0" err="1">
                    <a:solidFill>
                      <a:srgbClr val="1B2430"/>
                    </a:solidFill>
                    <a:latin typeface="Segoe UI"/>
                  </a:rPr>
                  <a:t>reg_w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 loaded once via </a:t>
                </a:r>
                <a:r>
                  <a:rPr sz="1250" b="0" i="1" dirty="0" err="1">
                    <a:solidFill>
                      <a:srgbClr val="1B2430"/>
                    </a:solidFill>
                    <a:latin typeface="Segoe UI"/>
                  </a:rPr>
                  <a:t>set_w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, held for the whole </a:t>
                </a:r>
                <a:r>
                  <a:rPr sz="1250" b="0" i="0" dirty="0" err="1">
                    <a:solidFill>
                      <a:srgbClr val="1B2430"/>
                    </a:solidFill>
                    <a:latin typeface="Segoe UI"/>
                  </a:rPr>
                  <a:t>matmul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; </a:t>
                </a:r>
                <a:r>
                  <a:rPr sz="1250" b="0" i="1" dirty="0">
                    <a:solidFill>
                      <a:srgbClr val="1B2430"/>
                    </a:solidFill>
                    <a:latin typeface="Segoe UI"/>
                  </a:rPr>
                  <a:t>x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 streams </a:t>
                </a:r>
                <a:r>
                  <a:rPr sz="1250" b="0" i="0" dirty="0" err="1">
                    <a:solidFill>
                      <a:srgbClr val="1B2430"/>
                    </a:solidFill>
                    <a:latin typeface="Segoe UI"/>
                  </a:rPr>
                  <a:t>west→east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, </a:t>
                </a:r>
                <a:r>
                  <a:rPr sz="1250" b="0" i="1" dirty="0" err="1">
                    <a:solidFill>
                      <a:srgbClr val="1B2430"/>
                    </a:solidFill>
                    <a:latin typeface="Segoe UI"/>
                  </a:rPr>
                  <a:t>psum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 </a:t>
                </a:r>
                <a:r>
                  <a:rPr sz="1250" b="0" i="0" dirty="0" err="1">
                    <a:solidFill>
                      <a:srgbClr val="1B2430"/>
                    </a:solidFill>
                    <a:latin typeface="Segoe UI"/>
                  </a:rPr>
                  <a:t>north→south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20-bit signed accumulator  (</a:t>
                </a:r>
                <a14:m>
                  <m:oMath xmlns:m="http://schemas.openxmlformats.org/officeDocument/2006/math">
                    <m:r>
                      <a:rPr lang="en-US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2·</m:t>
                    </m:r>
                    <m:r>
                      <a:rPr lang="en-US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US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𝑤𝑖𝑑𝑡ℎ</m:t>
                    </m:r>
                    <m:r>
                      <a:rPr lang="en-US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en-US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000" b="0" i="1" baseline="-20000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250" b="0" i="1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50" b="0" i="1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250" b="0" i="1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= 16</m:t>
                    </m:r>
                  </m:oMath>
                </a14:m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).</a:t>
                </a:r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Output round-half-up on an arithmetic right shift, then clip to </a:t>
                </a:r>
                <a14:m>
                  <m:oMath xmlns:m="http://schemas.openxmlformats.org/officeDocument/2006/math">
                    <m:r>
                      <a:rPr lang="he-IL" sz="125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[−128, 127]</m:t>
                    </m:r>
                  </m:oMath>
                </a14:m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   (Eq. 1, </a:t>
                </a:r>
                <a:r>
                  <a:rPr sz="1250" b="0" i="1" dirty="0" err="1">
                    <a:solidFill>
                      <a:srgbClr val="1B2430"/>
                    </a:solidFill>
                    <a:latin typeface="Segoe UI"/>
                  </a:rPr>
                  <a:t>right_shifter.v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).</a:t>
                </a:r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Runtime block-count registers set the contraction / output dims.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240" y="1600200"/>
                <a:ext cx="3977639" cy="3123034"/>
              </a:xfrm>
              <a:prstGeom prst="rect">
                <a:avLst/>
              </a:prstGeom>
              <a:blipFill>
                <a:blip r:embed="rId4"/>
                <a:stretch>
                  <a:fillRect l="-153" r="-1074" b="-58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6 · SOFTMAX &amp; GELU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Core architecture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fixed-point non-linear engines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64120" y="1271016"/>
            <a:ext cx="3866719" cy="5047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softmax_f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84" y="1325880"/>
            <a:ext cx="3756991" cy="4937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3480" y="1508760"/>
            <a:ext cx="6629400" cy="168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 i="0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50" b="0" i="0" dirty="0" err="1">
                <a:solidFill>
                  <a:srgbClr val="1B2430"/>
                </a:solidFill>
                <a:latin typeface="Segoe UI"/>
              </a:rPr>
              <a:t>Softmax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 </a:t>
            </a:r>
            <a:r>
              <a:rPr lang="he-IL" sz="1250" b="0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 3-pass scalar FSM, one buffered row at a time; each pass streams the full row once.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250" b="1" i="0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Pass 2/3 use a base-2 exp approximation (log</a:t>
            </a:r>
            <a:r>
              <a:rPr sz="1000" b="0" i="0" baseline="-20000" dirty="0">
                <a:solidFill>
                  <a:srgbClr val="1B2430"/>
                </a:solidFill>
                <a:latin typeface="Segoe UI"/>
              </a:rPr>
              <a:t>2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 </a:t>
            </a:r>
            <a:r>
              <a:rPr sz="1250" b="0" i="1" dirty="0">
                <a:solidFill>
                  <a:srgbClr val="1B2430"/>
                </a:solidFill>
                <a:latin typeface="Segoe UI"/>
              </a:rPr>
              <a:t>e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-scaled); pass 3 avoids a divider with a log-domain term (</a:t>
            </a:r>
            <a:r>
              <a:rPr sz="1250" b="0" i="1" dirty="0" err="1">
                <a:solidFill>
                  <a:srgbClr val="1B2430"/>
                </a:solidFill>
                <a:latin typeface="Segoe UI"/>
              </a:rPr>
              <a:t>Ln_module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).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sz="1250" b="1" i="0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GELU </a:t>
            </a:r>
            <a:r>
              <a:rPr lang="he-IL" sz="1250" b="0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 two-segment piecewise-linear: saturate outside a threshold, linear correction (</a:t>
            </a:r>
            <a:r>
              <a:rPr sz="1250" b="0" i="0" dirty="0" err="1">
                <a:solidFill>
                  <a:srgbClr val="1B2430"/>
                </a:solidFill>
                <a:latin typeface="Segoe UI"/>
              </a:rPr>
              <a:t>lin.v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) inside.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3429000"/>
            <a:ext cx="6675120" cy="2743200"/>
          </a:xfrm>
          <a:prstGeom prst="roundRect">
            <a:avLst>
              <a:gd name="adj" fmla="val 6000"/>
            </a:avLst>
          </a:prstGeom>
          <a:solidFill>
            <a:srgbClr val="ECEEF1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12080" y="3566160"/>
            <a:ext cx="63093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 i="0">
                <a:solidFill>
                  <a:srgbClr val="E8703A"/>
                </a:solidFill>
                <a:latin typeface="Segoe UI"/>
              </a:rPr>
              <a:t>Per-pass equations  (exact base-2 restatement of softmax)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303520" y="4069080"/>
                <a:ext cx="6263640" cy="132991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lnSpc>
                    <a:spcPct val="155000"/>
                  </a:lnSpc>
                </a:pPr>
                <a:r>
                  <a:rPr lang="en-US" sz="1500" b="1" i="0" dirty="0">
                    <a:solidFill>
                      <a:srgbClr val="1B2430"/>
                    </a:solidFill>
                    <a:latin typeface="Segoe UI"/>
                  </a:rPr>
                  <a:t>Pass 1   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50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unc>
                      <m:funcPr>
                        <m:ctrlPr>
                          <a:rPr lang="en-US" sz="15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500" b="0" i="0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500" b="0" i="0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15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r>
                          <a:rPr lang="en-US" sz="15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5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5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5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1500" b="0" i="1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500" b="0" i="0" dirty="0">
                  <a:solidFill>
                    <a:srgbClr val="1B2430"/>
                  </a:solidFill>
                  <a:latin typeface="Segoe UI"/>
                </a:endParaRPr>
              </a:p>
              <a:p>
                <a:pPr>
                  <a:lnSpc>
                    <a:spcPct val="155000"/>
                  </a:lnSpc>
                </a:pPr>
                <a:r>
                  <a:rPr lang="en-US" sz="1500" b="1" i="0" dirty="0">
                    <a:solidFill>
                      <a:srgbClr val="1B2430"/>
                    </a:solidFill>
                    <a:latin typeface="Segoe UI"/>
                  </a:rPr>
                  <a:t>Pass 2   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40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∑"/>
                        <m:supHide m:val="on"/>
                        <m:ctrlPr>
                          <a:rPr lang="en-US" sz="14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4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4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1400" i="1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i="1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i="1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i="1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US" sz="1400" i="1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1400" i="1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sz="1400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1400" i="1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func>
                          </m:sup>
                        </m:sSup>
                        <m:r>
                          <a:rPr lang="en-US" sz="14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sz="14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14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400" b="0" i="1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1B243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b="0" i="1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sz="1400" b="0" i="0" dirty="0">
                  <a:solidFill>
                    <a:srgbClr val="1B2430"/>
                  </a:solidFill>
                  <a:latin typeface="Segoe UI"/>
                </a:endParaRPr>
              </a:p>
              <a:p>
                <a:pPr>
                  <a:lnSpc>
                    <a:spcPct val="155000"/>
                  </a:lnSpc>
                </a:pPr>
                <a:r>
                  <a:rPr lang="en-US" sz="1500" b="1" i="0" dirty="0">
                    <a:solidFill>
                      <a:srgbClr val="1B2430"/>
                    </a:solidFill>
                    <a:latin typeface="Segoe UI"/>
                  </a:rPr>
                  <a:t>Pass 3   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baseline="-20000" dirty="0" err="1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500" b="0" i="1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sz="15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5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d>
                          <m:dPr>
                            <m:ctrlPr>
                              <a:rPr lang="en-US" sz="15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b="0" i="1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 b="0" i="1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500" b="0" i="1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5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5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sz="15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500" b="0" i="0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sz="15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15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15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))∙</m:t>
                        </m:r>
                        <m:func>
                          <m:funcPr>
                            <m:ctrlPr>
                              <a:rPr lang="en-US" sz="15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500" b="0" i="0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500" b="0" i="0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1500" b="0" i="1" dirty="0" smtClean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15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</m:func>
                      </m:sup>
                    </m:sSup>
                    <m:r>
                      <a:rPr lang="en-US" sz="150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600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600" i="1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i="1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r>
                          <a:rPr lang="en-US" sz="15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endParaRPr sz="1200" b="0" i="1" baseline="33000" dirty="0">
                  <a:solidFill>
                    <a:srgbClr val="1B2430"/>
                  </a:solidFill>
                  <a:latin typeface="Segoe UI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4069080"/>
                <a:ext cx="6263640" cy="1329916"/>
              </a:xfrm>
              <a:prstGeom prst="rect">
                <a:avLst/>
              </a:prstGeom>
              <a:blipFill>
                <a:blip r:embed="rId4"/>
                <a:stretch>
                  <a:fillRect l="-38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5257800" y="5650992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B6570"/>
                </a:solidFill>
                <a:latin typeface="Segoe UI"/>
              </a:rPr>
              <a:t>3N cycles / row, strictly serial  →  the Softmax throughput bottleneck.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"/>
            <a:ext cx="9052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077E0"/>
                </a:solidFill>
                <a:latin typeface="Segoe UI"/>
              </a:rPr>
              <a:t>6 · TRANSFORMER_BLOCK_AXI_TOP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SoC integration on the Zynq-7020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14757" y="1362456"/>
            <a:ext cx="8023444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soc_architectur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621" y="1417320"/>
            <a:ext cx="7913716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475488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077E0"/>
                </a:solidFill>
                <a:latin typeface="Segoe UI"/>
              </a:rPr>
              <a:t>▸  </a:t>
            </a:r>
            <a:r>
              <a:rPr sz="1250">
                <a:solidFill>
                  <a:srgbClr val="1B2430"/>
                </a:solidFill>
                <a:latin typeface="Segoe UI"/>
              </a:rPr>
              <a:t>AXI4-Lite control (7 config regs + 1 status bit) + dual AXI4-Stream in (feature, weight) / single AXI4-Stream out (result).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077E0"/>
                </a:solidFill>
                <a:latin typeface="Segoe UI"/>
              </a:rPr>
              <a:t>▸  </a:t>
            </a:r>
            <a:r>
              <a:rPr sz="1250">
                <a:solidFill>
                  <a:srgbClr val="1B2430"/>
                </a:solidFill>
                <a:latin typeface="Segoe UI"/>
              </a:rPr>
              <a:t>Three independent AXI DMA engines; PS7 dual-core Cortex-A9 configures and drives the streams; AXI SmartConnect interconnect.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2077E0"/>
                </a:solidFill>
                <a:latin typeface="Segoe UI"/>
              </a:rPr>
              <a:t>▸  </a:t>
            </a:r>
            <a:r>
              <a:rPr sz="1250">
                <a:solidFill>
                  <a:srgbClr val="1B2430"/>
                </a:solidFill>
                <a:latin typeface="Segoe UI"/>
              </a:rPr>
              <a:t>Bespoke AXI-Stream width adapters bridge the parallel array ↔ serial Softmax ↔ GELU datapath widths, plus a purpose-built row-boundary signal.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6 · CADENCE XCELIUM SIMULATION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RTL verification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tolerance-bounded, end to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5" y="1888882"/>
            <a:ext cx="7562088" cy="262303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imvision_waveform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43746"/>
            <a:ext cx="7452360" cy="251330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294503" y="3803593"/>
            <a:ext cx="5768126" cy="326730"/>
          </a:xfrm>
          <a:prstGeom prst="roundRect">
            <a:avLst>
              <a:gd name="adj" fmla="val 16000"/>
            </a:avLst>
          </a:prstGeom>
          <a:noFill/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91384" y="3414031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3-Pass Softmax Progression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73882" y="3705574"/>
            <a:ext cx="0" cy="98019"/>
          </a:xfrm>
          <a:prstGeom prst="line">
            <a:avLst/>
          </a:prstGeom>
          <a:ln w="28575">
            <a:solidFill>
              <a:srgbClr val="F39C12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03521" y="4135350"/>
            <a:ext cx="1006068" cy="183471"/>
          </a:xfrm>
          <a:prstGeom prst="roundRect">
            <a:avLst>
              <a:gd name="adj" fmla="val 16000"/>
            </a:avLst>
          </a:prstGeom>
          <a:noFill/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56732" y="415043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18,083 cycles locked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417042" y="4225829"/>
            <a:ext cx="424785" cy="0"/>
          </a:xfrm>
          <a:prstGeom prst="line">
            <a:avLst/>
          </a:prstGeom>
          <a:ln w="28575">
            <a:solidFill>
              <a:srgbClr val="F39C12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074920"/>
            <a:ext cx="7452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B6570"/>
                </a:solidFill>
                <a:latin typeface="Segoe UI"/>
              </a:rPr>
              <a:t>Real SimVision capture (transformer_block_tb): AXI-Stream ingest, 3-pass Softmax flags, streaming output; pipe_latency_cycles locks at 18,083.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481328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570"/>
                </a:solidFill>
                <a:latin typeface="Segoe UI"/>
              </a:rPr>
              <a:t>FULL-SCALE RUN · 200 × 96 × 160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874519"/>
            <a:ext cx="342900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66760" y="1874519"/>
            <a:ext cx="100584" cy="14173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67928" y="1874519"/>
            <a:ext cx="3118104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700" b="1">
                <a:solidFill>
                  <a:srgbClr val="2E9E5B"/>
                </a:solidFill>
                <a:latin typeface="Segoe UI"/>
              </a:rPr>
              <a:t>0 / 32,000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00">
                <a:solidFill>
                  <a:srgbClr val="5B6570"/>
                </a:solidFill>
                <a:latin typeface="Segoe UI"/>
              </a:rPr>
              <a:t>output elements outside the tolerance bound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3474720"/>
            <a:ext cx="342900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66760" y="3474720"/>
            <a:ext cx="100584" cy="14173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67928" y="3474720"/>
            <a:ext cx="3118104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800" b="1">
                <a:solidFill>
                  <a:srgbClr val="2077E0"/>
                </a:solidFill>
                <a:latin typeface="Segoe UI"/>
              </a:rPr>
              <a:t>18,083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00">
                <a:solidFill>
                  <a:srgbClr val="5B6570"/>
                </a:solidFill>
                <a:latin typeface="Segoe UI"/>
              </a:rPr>
              <a:t>cycle end-to-end latency, read straight off the counter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5074920"/>
            <a:ext cx="3429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5B6570"/>
                </a:solidFill>
                <a:latin typeface="Segoe UI"/>
              </a:rPr>
              <a:t>4 SystemVerilog testbenches (gelu, Softmax, MM_Ultra, integration), each with a $real golden reference.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★  A SYNTHESIS ATTRIBUTE THAT SILENTLY DID NOTHING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Technical contribution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the symptom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63040"/>
            <a:ext cx="10515600" cy="123444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627632"/>
            <a:ext cx="10058400" cy="5802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 dirty="0">
                <a:solidFill>
                  <a:srgbClr val="FFFFFF"/>
                </a:solidFill>
                <a:latin typeface="Segoe UI"/>
              </a:rPr>
              <a:t>Post-route, the </a:t>
            </a:r>
            <a:r>
              <a:rPr sz="1500" b="1" i="0" dirty="0" err="1">
                <a:solidFill>
                  <a:srgbClr val="FFFFFF"/>
                </a:solidFill>
                <a:latin typeface="Segoe UI"/>
              </a:rPr>
              <a:t>matmul</a:t>
            </a:r>
            <a:r>
              <a:rPr sz="1500" b="1" i="0" dirty="0">
                <a:solidFill>
                  <a:srgbClr val="FFFFFF"/>
                </a:solidFill>
                <a:latin typeface="Segoe UI"/>
              </a:rPr>
              <a:t>-dominated accelerator was LUT-bound, not DSP-bound </a:t>
            </a:r>
            <a:r>
              <a:rPr lang="he-IL" sz="1500" b="1" i="0" dirty="0">
                <a:solidFill>
                  <a:srgbClr val="FFFFFF"/>
                </a:solidFill>
                <a:latin typeface="Segoe UI"/>
              </a:rPr>
              <a:t>-</a:t>
            </a:r>
            <a:r>
              <a:rPr sz="1500" b="1" i="0" dirty="0">
                <a:solidFill>
                  <a:srgbClr val="FFFFFF"/>
                </a:solidFill>
                <a:latin typeface="Segoe UI"/>
              </a:rPr>
              <a:t> the exact inverse of what a 256-MAC systolic array should look like.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2926080"/>
          <a:ext cx="105156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Resource (post-route, full SoC)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Usage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Reading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>
                          <a:solidFill>
                            <a:srgbClr val="1B2430"/>
                          </a:solidFill>
                          <a:latin typeface="Segoe UI"/>
                        </a:rPr>
                        <a:t>DSP48E1 hard multipliers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>
                          <a:solidFill>
                            <a:srgbClr val="1B2430"/>
                          </a:solidFill>
                          <a:latin typeface="Segoe UI"/>
                        </a:rPr>
                        <a:t>13 / 220   (5.9%)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>
                          <a:solidFill>
                            <a:srgbClr val="1B2430"/>
                          </a:solidFill>
                          <a:latin typeface="Segoe UI"/>
                        </a:rPr>
                        <a:t>almost idle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>
                          <a:solidFill>
                            <a:srgbClr val="1B2430"/>
                          </a:solidFill>
                          <a:latin typeface="Segoe UI"/>
                        </a:rPr>
                        <a:t>Slice LUTs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>
                          <a:solidFill>
                            <a:srgbClr val="1B2430"/>
                          </a:solidFill>
                          <a:latin typeface="Segoe UI"/>
                        </a:rPr>
                        <a:t>30,276 / 53,200   (56.9%)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>
                          <a:solidFill>
                            <a:srgbClr val="1B2430"/>
                          </a:solidFill>
                          <a:latin typeface="Segoe UI"/>
                        </a:rPr>
                        <a:t>near the limit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>
                          <a:solidFill>
                            <a:srgbClr val="1B2430"/>
                          </a:solidFill>
                          <a:latin typeface="Segoe UI"/>
                        </a:rPr>
                        <a:t>CARRY4 primitives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>
                          <a:solidFill>
                            <a:srgbClr val="1B2430"/>
                          </a:solidFill>
                          <a:latin typeface="Segoe UI"/>
                        </a:rPr>
                        <a:t>4,874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50">
                          <a:solidFill>
                            <a:srgbClr val="1B2430"/>
                          </a:solidFill>
                          <a:latin typeface="Segoe UI"/>
                        </a:rPr>
                        <a:t>MACs built from fabric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60" y="4709160"/>
            <a:ext cx="10515600" cy="1060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B2430"/>
                </a:solidFill>
                <a:latin typeface="Segoe UI"/>
              </a:rPr>
              <a:t>A 16×16 INT8 multiply-accumulate array is precisely the workload DSP48E1 blocks exist for </a:t>
            </a:r>
            <a:r>
              <a:rPr lang="he-IL" sz="1300" dirty="0">
                <a:solidFill>
                  <a:srgbClr val="1B2430"/>
                </a:solidFill>
                <a:latin typeface="Segoe UI"/>
              </a:rPr>
              <a:t>-</a:t>
            </a:r>
            <a:r>
              <a:rPr sz="1300" dirty="0">
                <a:solidFill>
                  <a:srgbClr val="1B2430"/>
                </a:solidFill>
                <a:latin typeface="Segoe UI"/>
              </a:rPr>
              <a:t> yet synthesis was building the multipliers out of general LUT / CARRY4 logic.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30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300" dirty="0">
                <a:solidFill>
                  <a:srgbClr val="1B2430"/>
                </a:solidFill>
                <a:latin typeface="Segoe UI"/>
              </a:rPr>
              <a:t>First fix attempt: put a (* </a:t>
            </a:r>
            <a:r>
              <a:rPr sz="1300" dirty="0" err="1">
                <a:solidFill>
                  <a:srgbClr val="1B2430"/>
                </a:solidFill>
                <a:latin typeface="Segoe UI"/>
              </a:rPr>
              <a:t>use_dsp</a:t>
            </a:r>
            <a:r>
              <a:rPr sz="1300" dirty="0">
                <a:solidFill>
                  <a:srgbClr val="1B2430"/>
                </a:solidFill>
                <a:latin typeface="Segoe UI"/>
              </a:rPr>
              <a:t> = "yes" *) attribute on the multiply-accumulate always block. Re-synthesis produced byte-identical LUT / DSP / CARRY4 counts </a:t>
            </a:r>
            <a:r>
              <a:rPr lang="he-IL" sz="1300" dirty="0">
                <a:solidFill>
                  <a:srgbClr val="1B2430"/>
                </a:solidFill>
                <a:latin typeface="Segoe UI"/>
              </a:rPr>
              <a:t>-</a:t>
            </a:r>
            <a:r>
              <a:rPr sz="1300" dirty="0">
                <a:solidFill>
                  <a:srgbClr val="1B2430"/>
                </a:solidFill>
                <a:latin typeface="Segoe UI"/>
              </a:rPr>
              <a:t> no error, and no effect.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★  ATTRIBUTE PLACEMENT + A BUDGET-SIZED MAPPING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Technical contribution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root cause &amp; fix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607040" cy="5314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 dirty="0">
                <a:solidFill>
                  <a:srgbClr val="1B2430"/>
                </a:solidFill>
                <a:latin typeface="Segoe UI"/>
              </a:rPr>
              <a:t>Per Xilinx UG901, </a:t>
            </a:r>
            <a:r>
              <a:rPr sz="1350" b="1" i="0" dirty="0" err="1">
                <a:solidFill>
                  <a:srgbClr val="1B2430"/>
                </a:solidFill>
                <a:latin typeface="Segoe UI"/>
              </a:rPr>
              <a:t>use_dsp</a:t>
            </a:r>
            <a:r>
              <a:rPr sz="1350" b="1" i="0" dirty="0">
                <a:solidFill>
                  <a:srgbClr val="1B2430"/>
                </a:solidFill>
                <a:latin typeface="Segoe UI"/>
              </a:rPr>
              <a:t> must attach to the register declaration that holds the multiply result</a:t>
            </a:r>
            <a:r>
              <a:rPr sz="1350" b="0" i="0" dirty="0">
                <a:solidFill>
                  <a:srgbClr val="1B2430"/>
                </a:solidFill>
                <a:latin typeface="Segoe UI"/>
              </a:rPr>
              <a:t> </a:t>
            </a:r>
            <a:r>
              <a:rPr lang="he-IL" sz="1350" b="0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350" b="0" i="0" dirty="0">
                <a:solidFill>
                  <a:srgbClr val="1B2430"/>
                </a:solidFill>
                <a:latin typeface="Segoe UI"/>
              </a:rPr>
              <a:t> an attribute on the always statement is not a </a:t>
            </a:r>
            <a:r>
              <a:rPr sz="1350" b="0" i="0" dirty="0" err="1">
                <a:solidFill>
                  <a:srgbClr val="1B2430"/>
                </a:solidFill>
                <a:latin typeface="Segoe UI"/>
              </a:rPr>
              <a:t>recognised</a:t>
            </a:r>
            <a:r>
              <a:rPr sz="1350" b="0" i="0" dirty="0">
                <a:solidFill>
                  <a:srgbClr val="1B2430"/>
                </a:solidFill>
                <a:latin typeface="Segoe UI"/>
              </a:rPr>
              <a:t> attachment point and is dropped during elaboration with no warning.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52578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2212848"/>
            <a:ext cx="5257800" cy="384048"/>
          </a:xfrm>
          <a:prstGeom prst="roundRect">
            <a:avLst>
              <a:gd name="adj" fmla="val 18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212848"/>
            <a:ext cx="52578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BEFORE  </a:t>
            </a:r>
            <a:r>
              <a:rPr lang="he-IL" sz="1100" b="1" i="0" dirty="0">
                <a:solidFill>
                  <a:srgbClr val="FFFFFF"/>
                </a:solidFill>
                <a:latin typeface="Segoe UI"/>
              </a:rPr>
              <a:t>-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  no-op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24912"/>
            <a:ext cx="4937760" cy="1346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400" i="0" dirty="0">
                <a:solidFill>
                  <a:srgbClr val="A86200"/>
                </a:solidFill>
                <a:latin typeface="Consolas"/>
              </a:rPr>
              <a:t>(* </a:t>
            </a:r>
            <a:r>
              <a:rPr sz="1400" i="0" dirty="0" err="1">
                <a:solidFill>
                  <a:srgbClr val="A86200"/>
                </a:solidFill>
                <a:latin typeface="Consolas"/>
              </a:rPr>
              <a:t>use_dsp</a:t>
            </a:r>
            <a:r>
              <a:rPr sz="1400" i="0" dirty="0">
                <a:solidFill>
                  <a:srgbClr val="A86200"/>
                </a:solidFill>
                <a:latin typeface="Consolas"/>
              </a:rPr>
              <a:t> = "yes" *)</a:t>
            </a:r>
          </a:p>
          <a:p>
            <a:pPr>
              <a:lnSpc>
                <a:spcPct val="118000"/>
              </a:lnSpc>
            </a:pPr>
            <a:r>
              <a:rPr sz="1400" i="0" dirty="0">
                <a:solidFill>
                  <a:srgbClr val="0B5FB5"/>
                </a:solidFill>
                <a:latin typeface="Consolas"/>
              </a:rPr>
              <a:t>always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@(</a:t>
            </a:r>
            <a:r>
              <a:rPr sz="1400" i="0" dirty="0">
                <a:solidFill>
                  <a:srgbClr val="0B5FB5"/>
                </a:solidFill>
                <a:latin typeface="Consolas"/>
              </a:rPr>
              <a:t>posedge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clk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)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>
                <a:solidFill>
                  <a:srgbClr val="0B5FB5"/>
                </a:solidFill>
                <a:latin typeface="Consolas"/>
              </a:rPr>
              <a:t>begin</a:t>
            </a:r>
          </a:p>
          <a:p>
            <a:pPr>
              <a:lnSpc>
                <a:spcPct val="118000"/>
              </a:lnSpc>
            </a:pPr>
            <a:r>
              <a:rPr sz="1400" i="0" dirty="0">
                <a:solidFill>
                  <a:srgbClr val="222B38"/>
                </a:solidFill>
                <a:latin typeface="Consolas"/>
              </a:rPr>
              <a:t>    </a:t>
            </a:r>
            <a:r>
              <a:rPr sz="1400" i="0" dirty="0" err="1">
                <a:solidFill>
                  <a:srgbClr val="222B38"/>
                </a:solidFill>
                <a:latin typeface="Consolas"/>
              </a:rPr>
              <a:t>psum_out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&lt;=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 err="1">
                <a:solidFill>
                  <a:srgbClr val="222B38"/>
                </a:solidFill>
                <a:latin typeface="Consolas"/>
              </a:rPr>
              <a:t>psum_in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+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 err="1">
                <a:solidFill>
                  <a:srgbClr val="222B38"/>
                </a:solidFill>
                <a:latin typeface="Consolas"/>
              </a:rPr>
              <a:t>x_in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*</a:t>
            </a:r>
            <a:r>
              <a:rPr sz="1400" i="0" dirty="0" err="1">
                <a:solidFill>
                  <a:srgbClr val="222B38"/>
                </a:solidFill>
                <a:latin typeface="Consolas"/>
              </a:rPr>
              <a:t>reg_w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1400" i="0" dirty="0">
                <a:solidFill>
                  <a:srgbClr val="0B5FB5"/>
                </a:solidFill>
                <a:latin typeface="Consolas"/>
              </a:rPr>
              <a:t>end</a:t>
            </a:r>
          </a:p>
          <a:p>
            <a:pPr>
              <a:lnSpc>
                <a:spcPct val="118000"/>
              </a:lnSpc>
            </a:pPr>
            <a:r>
              <a:rPr sz="1400" i="1" dirty="0">
                <a:solidFill>
                  <a:srgbClr val="637C63"/>
                </a:solidFill>
                <a:latin typeface="Consolas"/>
              </a:rPr>
              <a:t>// attribute on the block: silently ignored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12848"/>
            <a:ext cx="52578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63640" y="2212848"/>
            <a:ext cx="5257800" cy="384048"/>
          </a:xfrm>
          <a:prstGeom prst="roundRect">
            <a:avLst>
              <a:gd name="adj" fmla="val 18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2212848"/>
            <a:ext cx="52578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Segoe UI"/>
              </a:rPr>
              <a:t>AFTER  </a:t>
            </a:r>
            <a:r>
              <a:rPr lang="he-IL" sz="1100" b="1" i="0" dirty="0">
                <a:solidFill>
                  <a:srgbClr val="FFFFFF"/>
                </a:solidFill>
                <a:latin typeface="Segoe UI"/>
              </a:rPr>
              <a:t>-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  UG901-correct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24912"/>
            <a:ext cx="4937760" cy="160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400" i="0" dirty="0">
                <a:solidFill>
                  <a:srgbClr val="A86200"/>
                </a:solidFill>
                <a:latin typeface="Consolas"/>
              </a:rPr>
              <a:t>(* </a:t>
            </a:r>
            <a:r>
              <a:rPr sz="1400" i="0" dirty="0" err="1">
                <a:solidFill>
                  <a:srgbClr val="A86200"/>
                </a:solidFill>
                <a:latin typeface="Consolas"/>
              </a:rPr>
              <a:t>use_dsp</a:t>
            </a:r>
            <a:r>
              <a:rPr sz="1400" i="0" dirty="0">
                <a:solidFill>
                  <a:srgbClr val="A86200"/>
                </a:solidFill>
                <a:latin typeface="Consolas"/>
              </a:rPr>
              <a:t> = "yes" *)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>
                <a:solidFill>
                  <a:srgbClr val="0B5FB5"/>
                </a:solidFill>
                <a:latin typeface="Consolas"/>
              </a:rPr>
              <a:t>reg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>
                <a:solidFill>
                  <a:srgbClr val="0B5FB5"/>
                </a:solidFill>
                <a:latin typeface="Consolas"/>
              </a:rPr>
              <a:t>signed</a:t>
            </a:r>
          </a:p>
          <a:p>
            <a:pPr>
              <a:lnSpc>
                <a:spcPct val="118000"/>
              </a:lnSpc>
            </a:pPr>
            <a:r>
              <a:rPr sz="1400" i="0" dirty="0">
                <a:solidFill>
                  <a:srgbClr val="222B38"/>
                </a:solidFill>
                <a:latin typeface="Consolas"/>
              </a:rPr>
              <a:t>  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[</a:t>
            </a:r>
            <a:r>
              <a:rPr sz="1400" i="0" dirty="0">
                <a:solidFill>
                  <a:srgbClr val="128467"/>
                </a:solidFill>
                <a:latin typeface="Consolas"/>
              </a:rPr>
              <a:t>2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*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data_width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+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log2_array_m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-</a:t>
            </a:r>
            <a:r>
              <a:rPr sz="1400" i="0" dirty="0">
                <a:solidFill>
                  <a:srgbClr val="128467"/>
                </a:solidFill>
                <a:latin typeface="Consolas"/>
              </a:rPr>
              <a:t>1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:</a:t>
            </a:r>
            <a:r>
              <a:rPr sz="1400" i="0" dirty="0">
                <a:solidFill>
                  <a:srgbClr val="128467"/>
                </a:solidFill>
                <a:latin typeface="Consolas"/>
              </a:rPr>
              <a:t>0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]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 err="1">
                <a:solidFill>
                  <a:srgbClr val="222B38"/>
                </a:solidFill>
                <a:latin typeface="Consolas"/>
              </a:rPr>
              <a:t>psum_out_r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1400" i="0" dirty="0">
                <a:solidFill>
                  <a:srgbClr val="0B5FB5"/>
                </a:solidFill>
                <a:latin typeface="Consolas"/>
              </a:rPr>
              <a:t>always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@(</a:t>
            </a:r>
            <a:r>
              <a:rPr sz="1400" i="0" dirty="0">
                <a:solidFill>
                  <a:srgbClr val="0B5FB5"/>
                </a:solidFill>
                <a:latin typeface="Consolas"/>
              </a:rPr>
              <a:t>posedge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clk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1400" i="0" dirty="0">
                <a:solidFill>
                  <a:srgbClr val="222B38"/>
                </a:solidFill>
                <a:latin typeface="Consolas"/>
              </a:rPr>
              <a:t>    </a:t>
            </a:r>
            <a:r>
              <a:rPr sz="1400" i="0" dirty="0" err="1">
                <a:solidFill>
                  <a:srgbClr val="222B38"/>
                </a:solidFill>
                <a:latin typeface="Consolas"/>
              </a:rPr>
              <a:t>psum_out_r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&lt;=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 err="1">
                <a:solidFill>
                  <a:srgbClr val="222B38"/>
                </a:solidFill>
                <a:latin typeface="Consolas"/>
              </a:rPr>
              <a:t>psum_in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+</a:t>
            </a:r>
            <a:r>
              <a:rPr sz="1400" i="0" dirty="0">
                <a:solidFill>
                  <a:srgbClr val="222B38"/>
                </a:solidFill>
                <a:latin typeface="Consolas"/>
              </a:rPr>
              <a:t> </a:t>
            </a:r>
            <a:r>
              <a:rPr sz="1400" i="0" dirty="0" err="1">
                <a:solidFill>
                  <a:srgbClr val="222B38"/>
                </a:solidFill>
                <a:latin typeface="Consolas"/>
              </a:rPr>
              <a:t>x_in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*</a:t>
            </a:r>
            <a:r>
              <a:rPr sz="1400" i="0" dirty="0" err="1">
                <a:solidFill>
                  <a:srgbClr val="222B38"/>
                </a:solidFill>
                <a:latin typeface="Consolas"/>
              </a:rPr>
              <a:t>reg_w</a:t>
            </a:r>
            <a:r>
              <a:rPr sz="1400" i="0" dirty="0">
                <a:solidFill>
                  <a:srgbClr val="7A849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1400" i="1" dirty="0">
                <a:solidFill>
                  <a:srgbClr val="637C63"/>
                </a:solidFill>
                <a:latin typeface="Consolas"/>
              </a:rPr>
              <a:t>// output reg -&gt; wire, driven by continuous assign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2628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0B5FB5"/>
                </a:solidFill>
                <a:latin typeface="Segoe UI"/>
              </a:rPr>
              <a:t>■ </a:t>
            </a:r>
            <a:r>
              <a:rPr sz="900">
                <a:solidFill>
                  <a:srgbClr val="5B6570"/>
                </a:solidFill>
                <a:latin typeface="Consolas"/>
              </a:rPr>
              <a:t>keyword</a:t>
            </a:r>
            <a:r>
              <a:rPr sz="900">
                <a:latin typeface="Segoe UI"/>
              </a:rPr>
              <a:t>    </a:t>
            </a:r>
            <a:r>
              <a:rPr sz="900">
                <a:solidFill>
                  <a:srgbClr val="A86200"/>
                </a:solidFill>
                <a:latin typeface="Segoe UI"/>
              </a:rPr>
              <a:t>■ </a:t>
            </a:r>
            <a:r>
              <a:rPr sz="900">
                <a:solidFill>
                  <a:srgbClr val="5B6570"/>
                </a:solidFill>
                <a:latin typeface="Consolas"/>
              </a:rPr>
              <a:t>(* pragma *)</a:t>
            </a:r>
            <a:r>
              <a:rPr sz="900">
                <a:latin typeface="Segoe UI"/>
              </a:rPr>
              <a:t>    </a:t>
            </a:r>
            <a:r>
              <a:rPr sz="900">
                <a:solidFill>
                  <a:srgbClr val="637C63"/>
                </a:solidFill>
                <a:latin typeface="Segoe UI"/>
              </a:rPr>
              <a:t>■ </a:t>
            </a:r>
            <a:r>
              <a:rPr sz="900">
                <a:solidFill>
                  <a:srgbClr val="5B6570"/>
                </a:solidFill>
                <a:latin typeface="Consolas"/>
              </a:rPr>
              <a:t>// comment</a:t>
            </a:r>
            <a:r>
              <a:rPr sz="900">
                <a:latin typeface="Segoe UI"/>
              </a:rPr>
              <a:t>    </a:t>
            </a:r>
            <a:r>
              <a:rPr sz="900">
                <a:solidFill>
                  <a:srgbClr val="222B38"/>
                </a:solidFill>
                <a:latin typeface="Segoe UI"/>
              </a:rPr>
              <a:t>■ </a:t>
            </a:r>
            <a:r>
              <a:rPr sz="900">
                <a:solidFill>
                  <a:srgbClr val="5B6570"/>
                </a:solidFill>
                <a:latin typeface="Consolas"/>
              </a:rPr>
              <a:t>signal / var</a:t>
            </a:r>
            <a:r>
              <a:rPr sz="900">
                <a:latin typeface="Segoe UI"/>
              </a:rPr>
              <a:t>    </a:t>
            </a:r>
            <a:r>
              <a:rPr sz="900">
                <a:solidFill>
                  <a:srgbClr val="128467"/>
                </a:solidFill>
                <a:latin typeface="Segoe UI"/>
              </a:rPr>
              <a:t>■ </a:t>
            </a:r>
            <a:r>
              <a:rPr sz="900">
                <a:solidFill>
                  <a:srgbClr val="5B6570"/>
                </a:solidFill>
                <a:latin typeface="Consolas"/>
              </a:rPr>
              <a:t>literal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10607040" cy="984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Fix is cycle-for-cycle </a:t>
            </a:r>
            <a:r>
              <a:rPr sz="1150" dirty="0" err="1">
                <a:solidFill>
                  <a:srgbClr val="1B2430"/>
                </a:solidFill>
                <a:latin typeface="Segoe UI"/>
              </a:rPr>
              <a:t>behaviour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-identical: output reg → wire, an internal register carries the attribute, port driven by a continuous assignment.</a:t>
            </a:r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All 256 PEs on DSP would exceed the 220-slice budget, so </a:t>
            </a:r>
            <a:r>
              <a:rPr sz="1150" dirty="0" err="1">
                <a:solidFill>
                  <a:srgbClr val="1B2430"/>
                </a:solidFill>
                <a:latin typeface="Segoe UI"/>
              </a:rPr>
              <a:t>PE_array.v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 </a:t>
            </a:r>
            <a:r>
              <a:rPr sz="1150" dirty="0" err="1">
                <a:solidFill>
                  <a:srgbClr val="1B2430"/>
                </a:solidFill>
                <a:latin typeface="Segoe UI"/>
              </a:rPr>
              <a:t>parameterises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 the split </a:t>
            </a:r>
            <a:r>
              <a:rPr lang="he-IL" sz="1150" dirty="0">
                <a:solidFill>
                  <a:srgbClr val="1B2430"/>
                </a:solidFill>
                <a:latin typeface="Segoe UI"/>
              </a:rPr>
              <a:t>-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 NUM_DSP_ROWS = 12 of 16 → 192 PEs on DSP48E1, 4 rows (64 PEs) on LUT/CARRY4.</a:t>
            </a:r>
          </a:p>
          <a:p>
            <a:pPr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Deliberate, budget-sized partial mapping </a:t>
            </a:r>
            <a:r>
              <a:rPr lang="he-IL" sz="1150" dirty="0">
                <a:solidFill>
                  <a:srgbClr val="1B2430"/>
                </a:solidFill>
                <a:latin typeface="Segoe UI"/>
              </a:rPr>
              <a:t>-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 not an all-or-nothing switch.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★  ONE RTL-LOCAL CHANGE, MEASURED BEFORE / AFTER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Technical contribution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result at signoff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613532"/>
              </p:ext>
            </p:extLst>
          </p:nvPr>
        </p:nvGraphicFramePr>
        <p:xfrm>
          <a:off x="502920" y="1371600"/>
          <a:ext cx="6720840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Segoe UI"/>
                        </a:rPr>
                        <a:t>Metric (post-route, full SoC)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Before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After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Δ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Segoe UI"/>
                        </a:rPr>
                        <a:t>Slice LUTs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30,276 (56.9%)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15,363 (28.9%)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he-IL" sz="1050" b="1" dirty="0">
                          <a:solidFill>
                            <a:srgbClr val="2E9E5B"/>
                          </a:solidFill>
                          <a:latin typeface="Segoe UI"/>
                        </a:rPr>
                        <a:t>-</a:t>
                      </a:r>
                      <a:r>
                        <a:rPr sz="1050" b="1" dirty="0">
                          <a:solidFill>
                            <a:srgbClr val="2E9E5B"/>
                          </a:solidFill>
                          <a:latin typeface="Segoe UI"/>
                        </a:rPr>
                        <a:t>49.3%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1B2430"/>
                          </a:solidFill>
                          <a:latin typeface="Segoe UI"/>
                        </a:rPr>
                        <a:t>CARRY4 primitives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4,874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1,862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he-IL" sz="1050" b="1" dirty="0">
                          <a:solidFill>
                            <a:srgbClr val="2E9E5B"/>
                          </a:solidFill>
                          <a:latin typeface="Segoe UI"/>
                        </a:rPr>
                        <a:t>-</a:t>
                      </a:r>
                      <a:r>
                        <a:rPr sz="1050" b="1" dirty="0">
                          <a:solidFill>
                            <a:srgbClr val="2E9E5B"/>
                          </a:solidFill>
                          <a:latin typeface="Segoe UI"/>
                        </a:rPr>
                        <a:t>61.8%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Segoe UI"/>
                        </a:rPr>
                        <a:t>DSP48E1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13 / 220 (5.9%)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205 / 220 (93.2%)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2E9E5B"/>
                          </a:solidFill>
                          <a:latin typeface="Segoe UI"/>
                        </a:rPr>
                        <a:t>+192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Segoe UI"/>
                        </a:rPr>
                        <a:t>WNS @ 100 MHz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+0.361 ns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+0.293 ns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he-IL" sz="1050" b="1" dirty="0">
                          <a:solidFill>
                            <a:srgbClr val="2E9E5B"/>
                          </a:solidFill>
                          <a:latin typeface="Segoe UI"/>
                        </a:rPr>
                        <a:t>-</a:t>
                      </a:r>
                      <a:r>
                        <a:rPr sz="1050" b="1" dirty="0">
                          <a:solidFill>
                            <a:srgbClr val="2E9E5B"/>
                          </a:solidFill>
                          <a:latin typeface="Segoe UI"/>
                        </a:rPr>
                        <a:t>19% marg.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Segoe UI"/>
                        </a:rPr>
                        <a:t>Total on-chip power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1.741 W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B2430"/>
                          </a:solidFill>
                          <a:latin typeface="Segoe UI"/>
                        </a:rPr>
                        <a:t>1.687 W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he-IL" sz="1050" b="1" dirty="0">
                          <a:solidFill>
                            <a:srgbClr val="2E9E5B"/>
                          </a:solidFill>
                          <a:latin typeface="Segoe UI"/>
                        </a:rPr>
                        <a:t>-</a:t>
                      </a:r>
                      <a:r>
                        <a:rPr sz="1050" b="1" dirty="0">
                          <a:solidFill>
                            <a:srgbClr val="2E9E5B"/>
                          </a:solidFill>
                          <a:latin typeface="Segoe UI"/>
                        </a:rPr>
                        <a:t>3.1%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069080"/>
            <a:ext cx="2130552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4069080"/>
            <a:ext cx="100584" cy="9601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4257201"/>
            <a:ext cx="1819656" cy="5838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he-IL" sz="2100" b="1" dirty="0">
                <a:solidFill>
                  <a:srgbClr val="2E9E5B"/>
                </a:solidFill>
                <a:latin typeface="Segoe UI"/>
              </a:rPr>
              <a:t>-</a:t>
            </a:r>
            <a:r>
              <a:rPr sz="2100" b="1" dirty="0">
                <a:solidFill>
                  <a:srgbClr val="2E9E5B"/>
                </a:solidFill>
                <a:latin typeface="Segoe UI"/>
              </a:rPr>
              <a:t>49.3%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950" dirty="0">
                <a:solidFill>
                  <a:srgbClr val="5B6570"/>
                </a:solidFill>
                <a:latin typeface="Segoe UI"/>
              </a:rPr>
              <a:t>Slice LUTs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52344" y="4069080"/>
            <a:ext cx="2130552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52344" y="4069080"/>
            <a:ext cx="100584" cy="9601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3512" y="4069080"/>
            <a:ext cx="181965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100" b="1">
                <a:solidFill>
                  <a:srgbClr val="2077E0"/>
                </a:solidFill>
                <a:latin typeface="Segoe UI"/>
              </a:rPr>
              <a:t>+192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950">
                <a:solidFill>
                  <a:srgbClr val="5B6570"/>
                </a:solidFill>
                <a:latin typeface="Segoe UI"/>
              </a:rPr>
              <a:t>DSP48E1 slices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1768" y="4069080"/>
            <a:ext cx="2130552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01768" y="4069080"/>
            <a:ext cx="100584" cy="9601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02936" y="4257201"/>
            <a:ext cx="1819656" cy="5838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he-IL" sz="2100" b="1" dirty="0">
                <a:solidFill>
                  <a:srgbClr val="2E9E5B"/>
                </a:solidFill>
                <a:latin typeface="Segoe UI"/>
              </a:rPr>
              <a:t>-</a:t>
            </a:r>
            <a:r>
              <a:rPr sz="2100" b="1" dirty="0">
                <a:solidFill>
                  <a:srgbClr val="2E9E5B"/>
                </a:solidFill>
                <a:latin typeface="Segoe UI"/>
              </a:rPr>
              <a:t>3.1%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950" dirty="0">
                <a:solidFill>
                  <a:srgbClr val="5B6570"/>
                </a:solidFill>
                <a:latin typeface="Segoe UI"/>
              </a:rPr>
              <a:t>on-chip power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9068" y="1316736"/>
            <a:ext cx="3698543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ig_vivado_dev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932" y="1371600"/>
            <a:ext cx="3588815" cy="36118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627303" y="1443837"/>
            <a:ext cx="2386562" cy="3413226"/>
          </a:xfrm>
          <a:prstGeom prst="roundRect">
            <a:avLst>
              <a:gd name="adj" fmla="val 16000"/>
            </a:avLst>
          </a:prstGeom>
          <a:noFill/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850123" y="1371600"/>
            <a:ext cx="3456432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205 / 220 DSP48E1  (93.2% DSP column saturation)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029200"/>
            <a:ext cx="42519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 dirty="0" err="1">
                <a:solidFill>
                  <a:srgbClr val="5B6570"/>
                </a:solidFill>
                <a:latin typeface="Segoe UI"/>
              </a:rPr>
              <a:t>Vivado</a:t>
            </a:r>
            <a:r>
              <a:rPr sz="1050" b="0" i="1" dirty="0">
                <a:solidFill>
                  <a:srgbClr val="5B6570"/>
                </a:solidFill>
                <a:latin typeface="Segoe UI"/>
              </a:rPr>
              <a:t> Device view </a:t>
            </a:r>
            <a:r>
              <a:rPr lang="he-IL" sz="1050" b="0" i="1" dirty="0">
                <a:solidFill>
                  <a:srgbClr val="5B6570"/>
                </a:solidFill>
                <a:latin typeface="Segoe UI"/>
              </a:rPr>
              <a:t>-</a:t>
            </a:r>
            <a:r>
              <a:rPr sz="1050" b="0" i="1" dirty="0">
                <a:solidFill>
                  <a:srgbClr val="5B6570"/>
                </a:solidFill>
                <a:latin typeface="Segoe UI"/>
              </a:rPr>
              <a:t> post-implementation cell placement across the Zynq-7020 fabric; yellow = DSP / BRAM columns.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57800"/>
            <a:ext cx="6720840" cy="105156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394960"/>
            <a:ext cx="6309360" cy="693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 dirty="0">
                <a:solidFill>
                  <a:srgbClr val="2077E0"/>
                </a:solidFill>
                <a:latin typeface="Segoe UI"/>
              </a:rPr>
              <a:t>Lesson  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a synthesis pragma that raises no error can still do nothing </a:t>
            </a:r>
            <a:r>
              <a:rPr lang="he-IL" sz="1100" b="0" i="0" dirty="0">
                <a:solidFill>
                  <a:srgbClr val="FFFFFF"/>
                </a:solidFill>
                <a:latin typeface="Segoe UI"/>
              </a:rPr>
              <a:t>-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check </a:t>
            </a:r>
            <a:r>
              <a:rPr sz="1100" b="0" i="0" dirty="0" err="1">
                <a:solidFill>
                  <a:srgbClr val="FFFFFF"/>
                </a:solidFill>
                <a:latin typeface="Segoe UI"/>
              </a:rPr>
              <a:t>utilisation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 before / after, not just that the build passed.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00" b="0" i="0" dirty="0">
                <a:solidFill>
                  <a:srgbClr val="C7D0DC"/>
                </a:solidFill>
                <a:latin typeface="Segoe UI"/>
              </a:rPr>
              <a:t>WNS +0.361 → +0.293 ns: denser DSP column, timing still met </a:t>
            </a:r>
            <a:r>
              <a:rPr lang="he-IL" sz="1000" b="0" i="0" dirty="0">
                <a:solidFill>
                  <a:srgbClr val="C7D0DC"/>
                </a:solidFill>
                <a:latin typeface="Segoe UI"/>
              </a:rPr>
              <a:t>-</a:t>
            </a:r>
            <a:r>
              <a:rPr sz="1000" b="0" i="0" dirty="0">
                <a:solidFill>
                  <a:srgbClr val="C7D0DC"/>
                </a:solidFill>
                <a:latin typeface="Segoe UI"/>
              </a:rPr>
              <a:t> an anticipated trade-off, not a regression.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7 · KERNEL BENCHMARK ON PYNQ-Z2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Results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hardware kernel vs. ARM Cortex-A9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966878" y="1271016"/>
            <a:ext cx="483280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atenc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42" y="1325880"/>
            <a:ext cx="4723074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90438" y="1271016"/>
            <a:ext cx="483280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peedup_f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302" y="1325880"/>
            <a:ext cx="4723074" cy="3017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695548" y="5971032"/>
                <a:ext cx="4404360" cy="50392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he-IL" sz="1150" b="1" i="1" dirty="0" smtClean="0">
                          <a:solidFill>
                            <a:srgbClr val="5B6570"/>
                          </a:solidFill>
                          <a:latin typeface="Cambria Math" panose="02040503050406030204" pitchFamily="18" charset="0"/>
                        </a:rPr>
                        <m:t>𝒔𝒑𝒆𝒆𝒅𝒖𝒑</m:t>
                      </m:r>
                      <m:r>
                        <a:rPr lang="he-IL" sz="1150" b="0" i="1" dirty="0">
                          <a:solidFill>
                            <a:srgbClr val="5B657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he-IL" sz="1200" i="1" dirty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1200" i="1" dirty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sty m:val="p"/>
                            </m:rPr>
                            <a:rPr lang="he-IL" sz="1200" i="0" baseline="-20000" dirty="0" err="1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</a:rPr>
                            <m:t>CPU</m:t>
                          </m:r>
                        </m:num>
                        <m:den>
                          <m:sSub>
                            <m:sSubPr>
                              <m:ctrlPr>
                                <a:rPr lang="en-US" sz="1150" b="0" i="0" dirty="0" smtClean="0">
                                  <a:solidFill>
                                    <a:srgbClr val="5B657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150" b="0" i="0" dirty="0" smtClean="0">
                                  <a:solidFill>
                                    <a:srgbClr val="5B657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150" b="0" i="0" dirty="0" smtClean="0">
                                  <a:solidFill>
                                    <a:srgbClr val="5B6570"/>
                                  </a:solidFill>
                                  <a:latin typeface="Cambria Math" panose="02040503050406030204" pitchFamily="18" charset="0"/>
                                </a:rPr>
                                <m:t>HW</m:t>
                              </m:r>
                            </m:sub>
                          </m:sSub>
                        </m:den>
                      </m:f>
                      <m:r>
                        <a:rPr lang="he-IL" sz="1150" b="0" i="1" dirty="0">
                          <a:solidFill>
                            <a:srgbClr val="5B657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he-IL" sz="1150" b="1" i="1" dirty="0">
                          <a:solidFill>
                            <a:srgbClr val="5B6570"/>
                          </a:solidFill>
                          <a:latin typeface="Cambria Math" panose="02040503050406030204" pitchFamily="18" charset="0"/>
                        </a:rPr>
                        <m:t>𝒕𝒉𝒓𝒐𝒖𝒈𝒉𝒑𝒖𝒕</m:t>
                      </m:r>
                      <m:r>
                        <a:rPr lang="he-IL" sz="1150" b="0" i="1" dirty="0">
                          <a:solidFill>
                            <a:srgbClr val="5B6570"/>
                          </a:solidFill>
                          <a:latin typeface="Cambria Math" panose="02040503050406030204" pitchFamily="18" charset="0"/>
                        </a:rPr>
                        <m:t> = 2·</m:t>
                      </m:r>
                      <m:f>
                        <m:fPr>
                          <m:ctrlPr>
                            <a:rPr lang="he-IL" sz="1150" i="0" dirty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he-IL" sz="1150" i="0" dirty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</a:rPr>
                            <m:t>MNK</m:t>
                          </m:r>
                        </m:num>
                        <m:den>
                          <m:r>
                            <a:rPr lang="en-US" sz="1150" b="0" i="1" dirty="0" smtClean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he-IL" sz="1200" i="1" baseline="-20000" dirty="0" err="1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</a:rPr>
                            <m:t>𝑘𝑒𝑟𝑛𝑒𝑙</m:t>
                          </m:r>
                        </m:den>
                      </m:f>
                    </m:oMath>
                  </m:oMathPara>
                </a14:m>
                <a:endParaRPr sz="920" b="0" i="0" baseline="-20000" dirty="0">
                  <a:solidFill>
                    <a:srgbClr val="5B6570"/>
                  </a:solidFill>
                  <a:latin typeface="Segoe UI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548" y="5971032"/>
                <a:ext cx="4404360" cy="5039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4828032"/>
          <a:ext cx="6903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Shape (fused matmul+Softmax+GELU)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HW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CPU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Speedup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>
                          <a:solidFill>
                            <a:srgbClr val="1B2430"/>
                          </a:solidFill>
                          <a:latin typeface="Segoe UI"/>
                        </a:rPr>
                        <a:t>192 × 192  (projection-sized)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>
                          <a:solidFill>
                            <a:srgbClr val="1B2430"/>
                          </a:solidFill>
                          <a:latin typeface="Segoe UI"/>
                        </a:rPr>
                        <a:t>5.84 ms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>
                          <a:solidFill>
                            <a:srgbClr val="1B2430"/>
                          </a:solidFill>
                          <a:latin typeface="Segoe UI"/>
                        </a:rPr>
                        <a:t>408.9 ms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>
                          <a:solidFill>
                            <a:srgbClr val="1B2430"/>
                          </a:solidFill>
                          <a:latin typeface="Segoe UI"/>
                        </a:rPr>
                        <a:t>70.02×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>
                          <a:solidFill>
                            <a:srgbClr val="1B2430"/>
                          </a:solidFill>
                          <a:latin typeface="Segoe UI"/>
                        </a:rPr>
                        <a:t>192 × 320  (MLP-shaped)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>
                          <a:solidFill>
                            <a:srgbClr val="1B2430"/>
                          </a:solidFill>
                          <a:latin typeface="Segoe UI"/>
                        </a:rPr>
                        <a:t>6.38 ms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1B2430"/>
                          </a:solidFill>
                          <a:latin typeface="Segoe UI"/>
                        </a:rPr>
                        <a:t>623.3 </a:t>
                      </a:r>
                      <a:r>
                        <a:rPr sz="1100" dirty="0" err="1">
                          <a:solidFill>
                            <a:srgbClr val="1B2430"/>
                          </a:solidFill>
                          <a:latin typeface="Segoe UI"/>
                        </a:rPr>
                        <a:t>ms</a:t>
                      </a:r>
                      <a:endParaRPr sz="1100" dirty="0">
                        <a:solidFill>
                          <a:srgbClr val="1B2430"/>
                        </a:solidFill>
                        <a:latin typeface="Segoe UI"/>
                      </a:endParaRP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1B2430"/>
                          </a:solidFill>
                          <a:latin typeface="Segoe UI"/>
                        </a:rPr>
                        <a:t>97.73×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772400" y="4828032"/>
            <a:ext cx="393192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0" y="4828032"/>
            <a:ext cx="100584" cy="713232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4919543"/>
            <a:ext cx="3621024" cy="5302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800" b="1" dirty="0">
                <a:solidFill>
                  <a:srgbClr val="2077E0"/>
                </a:solidFill>
                <a:latin typeface="Segoe UI"/>
              </a:rPr>
              <a:t>70.02× </a:t>
            </a:r>
            <a:r>
              <a:rPr lang="he-IL" sz="1800" b="1" dirty="0">
                <a:solidFill>
                  <a:srgbClr val="2077E0"/>
                </a:solidFill>
                <a:latin typeface="Segoe UI"/>
              </a:rPr>
              <a:t>-</a:t>
            </a:r>
            <a:r>
              <a:rPr sz="1800" b="1" dirty="0">
                <a:solidFill>
                  <a:srgbClr val="2077E0"/>
                </a:solidFill>
                <a:latin typeface="Segoe UI"/>
              </a:rPr>
              <a:t> 97.73×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900" dirty="0">
                <a:solidFill>
                  <a:srgbClr val="5B6570"/>
                </a:solidFill>
                <a:latin typeface="Segoe UI"/>
              </a:rPr>
              <a:t>measured kernel speedup vs. ARM Cortex-A9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614416"/>
            <a:ext cx="3931920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0" y="5614416"/>
            <a:ext cx="100584" cy="713232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5614416"/>
            <a:ext cx="362102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2E9E5B"/>
                </a:solidFill>
                <a:latin typeface="Segoe UI"/>
              </a:rPr>
              <a:t>2.25 GOPS/W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900">
                <a:solidFill>
                  <a:srgbClr val="5B6570"/>
                </a:solidFill>
                <a:latin typeface="Segoe UI"/>
              </a:rPr>
              <a:t>energy efficiency @ 3.795 GOP/s peak (2.47 dyn.)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7 · PHYSICAL VERIFICATION AT THE VERIFIED SCALE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Results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simulation ≡ silicon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5" y="1819684"/>
            <a:ext cx="7150608" cy="248711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imvision_waveform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48"/>
            <a:ext cx="7040880" cy="237738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083460" y="3134561"/>
            <a:ext cx="3872484" cy="344720"/>
          </a:xfrm>
          <a:prstGeom prst="roundRect">
            <a:avLst>
              <a:gd name="adj" fmla="val 16000"/>
            </a:avLst>
          </a:prstGeom>
          <a:noFill/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625803" y="2350025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Continuous 32-bit streaming output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56432" y="2647198"/>
            <a:ext cx="0" cy="487363"/>
          </a:xfrm>
          <a:prstGeom prst="line">
            <a:avLst/>
          </a:prstGeom>
          <a:ln w="28575">
            <a:solidFill>
              <a:srgbClr val="F39C12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91148" y="3372299"/>
            <a:ext cx="253471" cy="225851"/>
          </a:xfrm>
          <a:prstGeom prst="roundRect">
            <a:avLst>
              <a:gd name="adj" fmla="val 16000"/>
            </a:avLst>
          </a:prstGeom>
          <a:noFill/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77359" y="2350025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Single-cycle out_last pulse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17884" y="2647198"/>
            <a:ext cx="0" cy="720346"/>
          </a:xfrm>
          <a:prstGeom prst="line">
            <a:avLst/>
          </a:prstGeom>
          <a:ln w="28575">
            <a:solidFill>
              <a:srgbClr val="F39C12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846320"/>
            <a:ext cx="70408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 dirty="0" err="1">
                <a:solidFill>
                  <a:srgbClr val="5B6570"/>
                </a:solidFill>
                <a:latin typeface="Segoe UI"/>
              </a:rPr>
              <a:t>SimVision</a:t>
            </a:r>
            <a:r>
              <a:rPr sz="1050" b="0" i="1" dirty="0">
                <a:solidFill>
                  <a:srgbClr val="5B6570"/>
                </a:solidFill>
                <a:latin typeface="Segoe UI"/>
              </a:rPr>
              <a:t> zoom: end-of-inference handshake </a:t>
            </a:r>
            <a:r>
              <a:rPr lang="he-IL" sz="1050" b="0" i="1" dirty="0">
                <a:solidFill>
                  <a:srgbClr val="5B6570"/>
                </a:solidFill>
                <a:latin typeface="Segoe UI"/>
              </a:rPr>
              <a:t>-</a:t>
            </a:r>
            <a:r>
              <a:rPr sz="1050" b="0" i="1" dirty="0">
                <a:solidFill>
                  <a:srgbClr val="5B6570"/>
                </a:solidFill>
                <a:latin typeface="Segoe UI"/>
              </a:rPr>
              <a:t> </a:t>
            </a:r>
            <a:r>
              <a:rPr sz="1050" b="0" i="1" dirty="0" err="1">
                <a:solidFill>
                  <a:srgbClr val="5B6570"/>
                </a:solidFill>
                <a:latin typeface="Segoe UI"/>
              </a:rPr>
              <a:t>out_valid</a:t>
            </a:r>
            <a:r>
              <a:rPr sz="1050" b="0" i="1" dirty="0">
                <a:solidFill>
                  <a:srgbClr val="5B6570"/>
                </a:solidFill>
                <a:latin typeface="Segoe UI"/>
              </a:rPr>
              <a:t> / </a:t>
            </a:r>
            <a:r>
              <a:rPr sz="1050" b="0" i="1" dirty="0" err="1">
                <a:solidFill>
                  <a:srgbClr val="5B6570"/>
                </a:solidFill>
                <a:latin typeface="Segoe UI"/>
              </a:rPr>
              <a:t>out_data</a:t>
            </a:r>
            <a:r>
              <a:rPr sz="1050" b="0" i="1" dirty="0">
                <a:solidFill>
                  <a:srgbClr val="5B6570"/>
                </a:solidFill>
                <a:latin typeface="Segoe UI"/>
              </a:rPr>
              <a:t>[31:0], single-cycle </a:t>
            </a:r>
            <a:r>
              <a:rPr sz="1050" b="0" i="1" dirty="0" err="1">
                <a:solidFill>
                  <a:srgbClr val="5B6570"/>
                </a:solidFill>
                <a:latin typeface="Segoe UI"/>
              </a:rPr>
              <a:t>out_last</a:t>
            </a:r>
            <a:r>
              <a:rPr sz="1050" b="0" i="1" dirty="0">
                <a:solidFill>
                  <a:srgbClr val="5B6570"/>
                </a:solidFill>
                <a:latin typeface="Segoe UI"/>
              </a:rPr>
              <a:t>, counter locking at 18,083.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554480"/>
            <a:ext cx="3703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B2430"/>
                </a:solidFill>
                <a:latin typeface="Segoe UI"/>
              </a:rPr>
              <a:t>Same shape, real board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955279" y="1965960"/>
                <a:ext cx="3703320" cy="46205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lnSpc>
                    <a:spcPct val="114000"/>
                  </a:lnSpc>
                </a:pPr>
                <a14:m>
                  <m:oMath xmlns:m="http://schemas.openxmlformats.org/officeDocument/2006/math">
                    <m:r>
                      <a:rPr lang="he-IL" sz="1100" b="0" i="1" dirty="0" smtClean="0">
                        <a:solidFill>
                          <a:srgbClr val="5B6570"/>
                        </a:solidFill>
                        <a:latin typeface="Cambria Math" panose="02040503050406030204" pitchFamily="18" charset="0"/>
                      </a:rPr>
                      <m:t>200 × 96 × 160</m:t>
                    </m:r>
                  </m:oMath>
                </a14:m>
                <a:r>
                  <a:rPr sz="1100" b="0" i="0" dirty="0">
                    <a:solidFill>
                      <a:srgbClr val="5B6570"/>
                    </a:solidFill>
                    <a:latin typeface="Segoe UI"/>
                  </a:rPr>
                  <a:t>, on the physical PYNQ-Z2, read back over the PYNQ Python driver: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279" y="1965960"/>
                <a:ext cx="3703320" cy="462050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/>
          <p:cNvSpPr/>
          <p:nvPr/>
        </p:nvSpPr>
        <p:spPr>
          <a:xfrm>
            <a:off x="7955279" y="2880360"/>
            <a:ext cx="3703320" cy="12801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55279" y="2880360"/>
            <a:ext cx="100584" cy="128016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56448" y="2880360"/>
            <a:ext cx="3392424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500" b="1">
                <a:solidFill>
                  <a:srgbClr val="2E9E5B"/>
                </a:solidFill>
                <a:latin typeface="Segoe UI"/>
              </a:rPr>
              <a:t>0 / 32,000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00">
                <a:solidFill>
                  <a:srgbClr val="5B6570"/>
                </a:solidFill>
                <a:latin typeface="Segoe UI"/>
              </a:rPr>
              <a:t>output elements outside the tolerance bound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389120"/>
            <a:ext cx="3703320" cy="664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 dirty="0" err="1">
                <a:solidFill>
                  <a:srgbClr val="5B6570"/>
                </a:solidFill>
                <a:latin typeface="Segoe UI"/>
              </a:rPr>
              <a:t>Behavioural</a:t>
            </a:r>
            <a:r>
              <a:rPr sz="1100" b="0" i="0" dirty="0">
                <a:solidFill>
                  <a:srgbClr val="5B6570"/>
                </a:solidFill>
                <a:latin typeface="Segoe UI"/>
              </a:rPr>
              <a:t> simulation and physical silicon agree at the design's originally verified scale </a:t>
            </a:r>
            <a:r>
              <a:rPr lang="he-IL" sz="1100" b="0" i="0" dirty="0">
                <a:solidFill>
                  <a:srgbClr val="5B6570"/>
                </a:solidFill>
                <a:latin typeface="Segoe UI"/>
              </a:rPr>
              <a:t>-</a:t>
            </a:r>
            <a:r>
              <a:rPr sz="1100" b="0" i="0" dirty="0">
                <a:solidFill>
                  <a:srgbClr val="5B6570"/>
                </a:solidFill>
                <a:latin typeface="Segoe UI"/>
              </a:rPr>
              <a:t> not a new, more forgiving test.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7 · WORKLOAD CHARACTERISATION (A METHODOLOGICAL RESULT)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Results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an honest workload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826" y="1271016"/>
            <a:ext cx="6931947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ig_vit_mismatch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90" y="1325880"/>
            <a:ext cx="6822219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8509" y="4471416"/>
            <a:ext cx="2440581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g_vit_sample_samoy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73" y="4526280"/>
            <a:ext cx="2330853" cy="1828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3373" y="4526280"/>
            <a:ext cx="2330853" cy="1828800"/>
          </a:xfrm>
          <a:prstGeom prst="roundRect">
            <a:avLst>
              <a:gd name="adj" fmla="val 16000"/>
            </a:avLst>
          </a:prstGeom>
          <a:noFill/>
          <a:ln w="254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1500" y="4489704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Samoyed · 87.26% confidence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91840" y="4572000"/>
                <a:ext cx="4572000" cy="160031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100" b="1" i="0" dirty="0">
                    <a:solidFill>
                      <a:srgbClr val="5B6570"/>
                    </a:solidFill>
                    <a:latin typeface="Segoe UI"/>
                  </a:rPr>
                  <a:t>Empirical software-baseline check</a:t>
                </a:r>
              </a:p>
              <a:p>
                <a:pPr algn="l">
                  <a:lnSpc>
                    <a:spcPct val="120000"/>
                  </a:lnSpc>
                  <a:spcBef>
                    <a:spcPts val="400"/>
                  </a:spcBef>
                </a:pPr>
                <a:r>
                  <a:rPr lang="en-US" sz="1100" b="0" i="0" dirty="0">
                    <a:solidFill>
                      <a:srgbClr val="5B6570"/>
                    </a:solidFill>
                    <a:latin typeface="Segoe UI"/>
                  </a:rPr>
                  <a:t>From-scratch NumPy </a:t>
                </a:r>
                <a:r>
                  <a:rPr lang="en-US" sz="1100" b="0" i="0" dirty="0" err="1">
                    <a:solidFill>
                      <a:srgbClr val="5B6570"/>
                    </a:solidFill>
                    <a:latin typeface="Segoe UI"/>
                  </a:rPr>
                  <a:t>ViT</a:t>
                </a:r>
                <a:r>
                  <a:rPr lang="en-US" sz="1100" b="0" i="0" dirty="0">
                    <a:solidFill>
                      <a:srgbClr val="5B6570"/>
                    </a:solidFill>
                    <a:latin typeface="Segoe UI"/>
                  </a:rPr>
                  <a:t>-Tiny classifies this sample as </a:t>
                </a:r>
                <a:r>
                  <a:rPr lang="en-US" sz="1100" b="0" i="1" dirty="0">
                    <a:solidFill>
                      <a:srgbClr val="5B6570"/>
                    </a:solidFill>
                    <a:latin typeface="Segoe UI"/>
                  </a:rPr>
                  <a:t>Samoyed</a:t>
                </a:r>
                <a:r>
                  <a:rPr lang="en-US" sz="1100" b="0" i="0" dirty="0">
                    <a:solidFill>
                      <a:srgbClr val="5B6570"/>
                    </a:solidFill>
                    <a:latin typeface="Segoe UI"/>
                  </a:rPr>
                  <a:t> (87.26% confidence) - identical top-1 to the </a:t>
                </a:r>
                <a:r>
                  <a:rPr lang="en-US" sz="1100" b="0" i="0" dirty="0" err="1">
                    <a:solidFill>
                      <a:srgbClr val="5B6570"/>
                    </a:solidFill>
                    <a:latin typeface="Segoe UI"/>
                  </a:rPr>
                  <a:t>PyTorch</a:t>
                </a:r>
                <a:r>
                  <a:rPr lang="en-US" sz="1100" b="0" i="0" dirty="0">
                    <a:solidFill>
                      <a:srgbClr val="5B6570"/>
                    </a:solidFill>
                    <a:latin typeface="Segoe UI"/>
                  </a:rPr>
                  <a:t> reference,</a:t>
                </a:r>
              </a:p>
              <a:p>
                <a:pPr>
                  <a:lnSpc>
                    <a:spcPct val="10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100" b="0" i="0" smtClean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100" b="0" i="0" smtClean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100" b="0" i="1" smtClean="0">
                                  <a:solidFill>
                                    <a:srgbClr val="5B657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100" b="0" i="0" smtClean="0">
                                      <a:solidFill>
                                        <a:srgbClr val="5B657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0" smtClean="0">
                                      <a:solidFill>
                                        <a:srgbClr val="5B657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solidFill>
                                        <a:srgbClr val="5B657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𝑙𝑜𝑔𝑖𝑡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1100" b="0" i="1" smtClean="0">
                          <a:solidFill>
                            <a:srgbClr val="5B6570"/>
                          </a:solidFill>
                          <a:latin typeface="Cambria Math" panose="02040503050406030204" pitchFamily="18" charset="0"/>
                        </a:rPr>
                        <m:t>≤1.0 </m:t>
                      </m:r>
                      <m:r>
                        <a:rPr lang="en-US" sz="1100" b="0" i="1" smtClean="0">
                          <a:solidFill>
                            <a:srgbClr val="5B65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1100" b="0" i="1" smtClean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100" b="0" i="1" smtClean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en-US" sz="1100" b="0" i="0" dirty="0">
                  <a:solidFill>
                    <a:srgbClr val="5B6570"/>
                  </a:solidFill>
                  <a:latin typeface="Segoe UI"/>
                </a:endParaRPr>
              </a:p>
              <a:p>
                <a:pPr>
                  <a:spcBef>
                    <a:spcPts val="400"/>
                  </a:spcBef>
                </a:pPr>
                <a:endParaRPr lang="en-US" sz="11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0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00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1000" i="1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</a:rPr>
                            <m:t>𝑙𝑜𝑔𝑖𝑡</m:t>
                          </m:r>
                        </m:sub>
                      </m:sSub>
                      <m:r>
                        <a:rPr lang="he-IL" sz="1000" smtClean="0">
                          <a:solidFill>
                            <a:srgbClr val="5B65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=|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𝑁𝑢𝑚𝑃𝑦</m:t>
                          </m:r>
                        </m:sub>
                      </m:sSub>
                      <m:r>
                        <a:rPr lang="he-IL" sz="1000" smtClean="0">
                          <a:solidFill>
                            <a:srgbClr val="5B65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5B657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𝑃𝑦𝑇𝑜𝑟𝑐ℎ</m:t>
                          </m:r>
                        </m:sub>
                      </m:sSub>
                      <m:r>
                        <a:rPr lang="he-IL" sz="1000" smtClean="0">
                          <a:solidFill>
                            <a:srgbClr val="5B657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he-IL" sz="1000" dirty="0">
                  <a:solidFill>
                    <a:srgbClr val="5B657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400"/>
                  </a:spcBef>
                </a:pPr>
                <a:endParaRPr sz="1100" b="0" i="0" dirty="0">
                  <a:solidFill>
                    <a:srgbClr val="5B6570"/>
                  </a:solidFill>
                  <a:latin typeface="Segoe UI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0" y="4572000"/>
                <a:ext cx="4572000" cy="16003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909560" y="1508760"/>
            <a:ext cx="3749039" cy="2219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The fixed </a:t>
            </a:r>
            <a:r>
              <a:rPr sz="1150" dirty="0" err="1">
                <a:solidFill>
                  <a:srgbClr val="1B2430"/>
                </a:solidFill>
                <a:latin typeface="Segoe UI"/>
              </a:rPr>
              <a:t>matmul→Softmax→GELU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 pipeline maps to no single </a:t>
            </a:r>
            <a:r>
              <a:rPr sz="1150" dirty="0" err="1">
                <a:solidFill>
                  <a:srgbClr val="1B2430"/>
                </a:solidFill>
                <a:latin typeface="Segoe UI"/>
              </a:rPr>
              <a:t>ViT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 operation: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0" dirty="0">
                <a:solidFill>
                  <a:srgbClr val="5B6570"/>
                </a:solidFill>
                <a:latin typeface="Segoe UI"/>
              </a:rPr>
              <a:t>     </a:t>
            </a:r>
            <a:r>
              <a:rPr lang="he-IL" sz="1150" b="0" dirty="0">
                <a:solidFill>
                  <a:srgbClr val="5B6570"/>
                </a:solidFill>
                <a:latin typeface="Segoe UI"/>
              </a:rPr>
              <a:t>-</a:t>
            </a:r>
            <a:r>
              <a:rPr sz="1150" b="0" dirty="0">
                <a:solidFill>
                  <a:srgbClr val="5B6570"/>
                </a:solidFill>
                <a:latin typeface="Segoe UI"/>
              </a:rPr>
              <a:t> </a:t>
            </a:r>
            <a:r>
              <a:rPr sz="1050" dirty="0">
                <a:solidFill>
                  <a:srgbClr val="5B6570"/>
                </a:solidFill>
                <a:latin typeface="Segoe UI"/>
              </a:rPr>
              <a:t>self-attention = </a:t>
            </a:r>
            <a:r>
              <a:rPr sz="1050" dirty="0" err="1">
                <a:solidFill>
                  <a:srgbClr val="5B6570"/>
                </a:solidFill>
                <a:latin typeface="Segoe UI"/>
              </a:rPr>
              <a:t>matmul</a:t>
            </a:r>
            <a:r>
              <a:rPr lang="he-IL" sz="1050" dirty="0">
                <a:solidFill>
                  <a:srgbClr val="5B6570"/>
                </a:solidFill>
                <a:latin typeface="Segoe UI"/>
              </a:rPr>
              <a:t>-</a:t>
            </a:r>
            <a:r>
              <a:rPr sz="1050" dirty="0" err="1">
                <a:solidFill>
                  <a:srgbClr val="5B6570"/>
                </a:solidFill>
                <a:latin typeface="Segoe UI"/>
              </a:rPr>
              <a:t>Softmax</a:t>
            </a:r>
            <a:r>
              <a:rPr lang="he-IL" sz="1050" dirty="0">
                <a:solidFill>
                  <a:srgbClr val="5B6570"/>
                </a:solidFill>
                <a:latin typeface="Segoe UI"/>
              </a:rPr>
              <a:t>-</a:t>
            </a:r>
            <a:r>
              <a:rPr sz="1050" dirty="0" err="1">
                <a:solidFill>
                  <a:srgbClr val="5B6570"/>
                </a:solidFill>
                <a:latin typeface="Segoe UI"/>
              </a:rPr>
              <a:t>matmul</a:t>
            </a:r>
            <a:r>
              <a:rPr sz="1050" dirty="0">
                <a:solidFill>
                  <a:srgbClr val="5B6570"/>
                </a:solidFill>
                <a:latin typeface="Segoe UI"/>
              </a:rPr>
              <a:t>, no GELU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0" dirty="0">
                <a:solidFill>
                  <a:srgbClr val="5B6570"/>
                </a:solidFill>
                <a:latin typeface="Segoe UI"/>
              </a:rPr>
              <a:t>     </a:t>
            </a:r>
            <a:r>
              <a:rPr lang="he-IL" sz="1150" b="0" dirty="0">
                <a:solidFill>
                  <a:srgbClr val="5B6570"/>
                </a:solidFill>
                <a:latin typeface="Segoe UI"/>
              </a:rPr>
              <a:t>-</a:t>
            </a:r>
            <a:r>
              <a:rPr sz="1150" b="0" dirty="0">
                <a:solidFill>
                  <a:srgbClr val="5B6570"/>
                </a:solidFill>
                <a:latin typeface="Segoe UI"/>
              </a:rPr>
              <a:t> </a:t>
            </a:r>
            <a:r>
              <a:rPr sz="1050" dirty="0">
                <a:solidFill>
                  <a:srgbClr val="5B6570"/>
                </a:solidFill>
                <a:latin typeface="Segoe UI"/>
              </a:rPr>
              <a:t>MLP block = </a:t>
            </a:r>
            <a:r>
              <a:rPr sz="1050" dirty="0" err="1">
                <a:solidFill>
                  <a:srgbClr val="5B6570"/>
                </a:solidFill>
                <a:latin typeface="Segoe UI"/>
              </a:rPr>
              <a:t>matmul</a:t>
            </a:r>
            <a:r>
              <a:rPr lang="he-IL" sz="1050" dirty="0">
                <a:solidFill>
                  <a:srgbClr val="5B6570"/>
                </a:solidFill>
                <a:latin typeface="Segoe UI"/>
              </a:rPr>
              <a:t>-</a:t>
            </a:r>
            <a:r>
              <a:rPr sz="1050" dirty="0">
                <a:solidFill>
                  <a:srgbClr val="5B6570"/>
                </a:solidFill>
                <a:latin typeface="Segoe UI"/>
              </a:rPr>
              <a:t>GELU</a:t>
            </a:r>
            <a:r>
              <a:rPr lang="he-IL" sz="1050" dirty="0">
                <a:solidFill>
                  <a:srgbClr val="5B6570"/>
                </a:solidFill>
                <a:latin typeface="Segoe UI"/>
              </a:rPr>
              <a:t>-</a:t>
            </a:r>
            <a:r>
              <a:rPr sz="1050" dirty="0" err="1">
                <a:solidFill>
                  <a:srgbClr val="5B6570"/>
                </a:solidFill>
                <a:latin typeface="Segoe UI"/>
              </a:rPr>
              <a:t>matmul</a:t>
            </a:r>
            <a:r>
              <a:rPr sz="1050" dirty="0">
                <a:solidFill>
                  <a:srgbClr val="5B6570"/>
                </a:solidFill>
                <a:latin typeface="Segoe UI"/>
              </a:rPr>
              <a:t>, no </a:t>
            </a:r>
            <a:r>
              <a:rPr sz="1050" dirty="0" err="1">
                <a:solidFill>
                  <a:srgbClr val="5B6570"/>
                </a:solidFill>
                <a:latin typeface="Segoe UI"/>
              </a:rPr>
              <a:t>Softmax</a:t>
            </a:r>
            <a:endParaRPr sz="1050" dirty="0">
              <a:solidFill>
                <a:srgbClr val="5B6570"/>
              </a:solidFill>
              <a:latin typeface="Segoe UI"/>
            </a:endParaRP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Substituting it into either would silently apply an extra </a:t>
            </a:r>
            <a:r>
              <a:rPr sz="1150" dirty="0" err="1">
                <a:solidFill>
                  <a:srgbClr val="1B2430"/>
                </a:solidFill>
                <a:latin typeface="Segoe UI"/>
              </a:rPr>
              <a:t>normalisation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 / activation and corrupt the result.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Verified against the RTL, not assumed </a:t>
            </a:r>
            <a:r>
              <a:rPr lang="he-IL" sz="1150" dirty="0">
                <a:solidFill>
                  <a:srgbClr val="1B2430"/>
                </a:solidFill>
                <a:latin typeface="Segoe UI"/>
              </a:rPr>
              <a:t>-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 so we report a kernel throughput benchmark, never an end-to-end accelerated-</a:t>
            </a:r>
            <a:r>
              <a:rPr sz="1150" dirty="0" err="1">
                <a:solidFill>
                  <a:srgbClr val="1B2430"/>
                </a:solidFill>
                <a:latin typeface="Segoe UI"/>
              </a:rPr>
              <a:t>ViT</a:t>
            </a:r>
            <a:r>
              <a:rPr sz="1150" dirty="0">
                <a:solidFill>
                  <a:srgbClr val="1B2430"/>
                </a:solidFill>
                <a:latin typeface="Segoe UI"/>
              </a:rPr>
              <a:t> claim.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"/>
            <a:ext cx="9052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077E0"/>
                </a:solidFill>
                <a:latin typeface="Segoe UI"/>
              </a:rPr>
              <a:t>7 · SAME DESIGN FAMILY, DIFFERENT DEVICE CLASS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Comparison with prior FPGA transformer accelerators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54480"/>
          <a:ext cx="10972800" cy="1438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 dirty="0">
                          <a:solidFill>
                            <a:srgbClr val="FFFFFF"/>
                          </a:solidFill>
                          <a:latin typeface="Segoe UI"/>
                        </a:rPr>
                        <a:t>Design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Target FPGA (total DSPs)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DSP util.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Reported efficiency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B2430"/>
                          </a:solidFill>
                          <a:latin typeface="Segoe UI"/>
                        </a:rPr>
                        <a:t>taoFPGA (this work)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>
                          <a:solidFill>
                            <a:srgbClr val="1B2430"/>
                          </a:solidFill>
                          <a:latin typeface="Segoe UI"/>
                        </a:rPr>
                        <a:t>Zynq-7020  (220)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>
                          <a:solidFill>
                            <a:srgbClr val="1B2430"/>
                          </a:solidFill>
                          <a:latin typeface="Segoe UI"/>
                        </a:rPr>
                        <a:t>INT8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>
                          <a:solidFill>
                            <a:srgbClr val="1B2430"/>
                          </a:solidFill>
                          <a:latin typeface="Segoe UI"/>
                        </a:rPr>
                        <a:t>205/220 (93%)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dirty="0">
                          <a:solidFill>
                            <a:srgbClr val="1B2430"/>
                          </a:solidFill>
                          <a:latin typeface="Segoe UI"/>
                        </a:rPr>
                        <a:t>2.25 GOPS/W; 70</a:t>
                      </a:r>
                      <a:r>
                        <a:rPr lang="he-IL" sz="115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1150" dirty="0">
                          <a:solidFill>
                            <a:srgbClr val="1B2430"/>
                          </a:solidFill>
                          <a:latin typeface="Segoe UI"/>
                        </a:rPr>
                        <a:t>98× vs. on-chip ARM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B2430"/>
                          </a:solidFill>
                          <a:latin typeface="Segoe UI"/>
                        </a:rPr>
                        <a:t>ME-ViT [3]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>
                          <a:solidFill>
                            <a:srgbClr val="1B2430"/>
                          </a:solidFill>
                          <a:latin typeface="Segoe UI"/>
                        </a:rPr>
                        <a:t>Alveo U200  (5,867)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>
                          <a:solidFill>
                            <a:srgbClr val="1B2430"/>
                          </a:solidFill>
                          <a:latin typeface="Segoe UI"/>
                        </a:rPr>
                        <a:t>n/s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>
                          <a:solidFill>
                            <a:srgbClr val="1B2430"/>
                          </a:solidFill>
                          <a:latin typeface="Segoe UI"/>
                        </a:rPr>
                        <a:t>1,024 (17%)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>
                          <a:solidFill>
                            <a:srgbClr val="1B2430"/>
                          </a:solidFill>
                          <a:latin typeface="Segoe UI"/>
                        </a:rPr>
                        <a:t>4.0× power-eff. vs. GPU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1B2430"/>
                          </a:solidFill>
                          <a:latin typeface="Segoe UI"/>
                        </a:rPr>
                        <a:t>FTRANS [4]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>
                          <a:solidFill>
                            <a:srgbClr val="1B2430"/>
                          </a:solidFill>
                          <a:latin typeface="Segoe UI"/>
                        </a:rPr>
                        <a:t>VCU118  (6,840)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>
                          <a:solidFill>
                            <a:srgbClr val="1B2430"/>
                          </a:solidFill>
                          <a:latin typeface="Segoe UI"/>
                        </a:rPr>
                        <a:t>16-bit fixed + BCM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dirty="0">
                          <a:solidFill>
                            <a:srgbClr val="1B2430"/>
                          </a:solidFill>
                          <a:latin typeface="Segoe UI"/>
                        </a:rPr>
                        <a:t>82</a:t>
                      </a:r>
                      <a:r>
                        <a:rPr lang="he-IL" sz="115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1150" dirty="0">
                          <a:solidFill>
                            <a:srgbClr val="1B2430"/>
                          </a:solidFill>
                          <a:latin typeface="Segoe UI"/>
                        </a:rPr>
                        <a:t>96%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>
                          <a:solidFill>
                            <a:srgbClr val="1B2430"/>
                          </a:solidFill>
                          <a:latin typeface="Segoe UI"/>
                        </a:rPr>
                        <a:t>81× / 8.8× vs. CPU / GPU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40080" y="4206240"/>
                <a:ext cx="10972800" cy="11771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300" b="1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lang="en-US" sz="1300" dirty="0">
                    <a:solidFill>
                      <a:srgbClr val="1B2430"/>
                    </a:solidFill>
                    <a:latin typeface="Segoe UI"/>
                  </a:rPr>
                  <a:t>ME-</a:t>
                </a:r>
                <a:r>
                  <a:rPr lang="en-US" sz="1300" dirty="0" err="1">
                    <a:solidFill>
                      <a:srgbClr val="1B2430"/>
                    </a:solidFill>
                    <a:latin typeface="Segoe UI"/>
                  </a:rPr>
                  <a:t>ViT</a:t>
                </a:r>
                <a:r>
                  <a:rPr lang="en-US" sz="1300" dirty="0">
                    <a:solidFill>
                      <a:srgbClr val="1B2430"/>
                    </a:solidFill>
                    <a:latin typeface="Segoe UI"/>
                  </a:rPr>
                  <a:t> and FTRANS target datacenter-class FPGAs </a:t>
                </a:r>
                <a14:m>
                  <m:oMath xmlns:m="http://schemas.openxmlformats.org/officeDocument/2006/math">
                    <m:r>
                      <a:rPr lang="he-IL" sz="1300" b="0" i="1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1300" dirty="0">
                    <a:solidFill>
                      <a:srgbClr val="1B2430"/>
                    </a:solidFill>
                    <a:latin typeface="Segoe UI"/>
                  </a:rPr>
                  <a:t>25× the DSP budget - and benchmark against GPUs/CPUs.</a:t>
                </a:r>
              </a:p>
              <a:p>
                <a:pPr>
                  <a:lnSpc>
                    <a:spcPct val="112000"/>
                  </a:lnSpc>
                  <a:spcBef>
                    <a:spcPts val="700"/>
                  </a:spcBef>
                  <a:spcAft>
                    <a:spcPts val="0"/>
                  </a:spcAft>
                </a:pPr>
                <a:r>
                  <a:rPr lang="en-US" sz="1300" b="1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lang="en-US" sz="1300" dirty="0" err="1">
                    <a:solidFill>
                      <a:srgbClr val="1B2430"/>
                    </a:solidFill>
                    <a:latin typeface="Segoe UI"/>
                  </a:rPr>
                  <a:t>taoFPGA</a:t>
                </a:r>
                <a:r>
                  <a:rPr lang="en-US" sz="1300" dirty="0">
                    <a:solidFill>
                      <a:srgbClr val="1B2430"/>
                    </a:solidFill>
                    <a:latin typeface="Segoe UI"/>
                  </a:rPr>
                  <a:t> targets a 220-DSP embedded SoC and benchmarks against its own on-chip ARM Cortex-A9.</a:t>
                </a:r>
              </a:p>
              <a:p>
                <a:pPr>
                  <a:lnSpc>
                    <a:spcPct val="112000"/>
                  </a:lnSpc>
                  <a:spcBef>
                    <a:spcPts val="700"/>
                  </a:spcBef>
                  <a:spcAft>
                    <a:spcPts val="0"/>
                  </a:spcAft>
                </a:pPr>
                <a:r>
                  <a:rPr lang="en-US" sz="1300" b="1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lang="en-US" sz="1300" dirty="0">
                    <a:solidFill>
                      <a:srgbClr val="1B2430"/>
                    </a:solidFill>
                    <a:latin typeface="Segoe UI"/>
                  </a:rPr>
                  <a:t>The table situates design choices within one architectural family (fixed-point + DSP-array-dominated, device near DSP saturation) - it is not a device-independent performance ranking.</a:t>
                </a:r>
                <a:endParaRPr sz="1300" dirty="0">
                  <a:solidFill>
                    <a:srgbClr val="1B2430"/>
                  </a:solidFill>
                  <a:latin typeface="Segoe UI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206240"/>
                <a:ext cx="10972800" cy="1177182"/>
              </a:xfrm>
              <a:prstGeom prst="rect">
                <a:avLst/>
              </a:prstGeom>
              <a:blipFill>
                <a:blip r:embed="rId3"/>
                <a:stretch>
                  <a:fillRect l="-56" b="-155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"/>
            <a:ext cx="9052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077E0"/>
                </a:solidFill>
                <a:latin typeface="Segoe UI"/>
              </a:rPr>
              <a:t>8 · PRE-PROJECT PLAN  →  WHAT ACTUALLY HAPPENED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Planning vs.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25880"/>
          <a:ext cx="11292840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FFFFFF"/>
                          </a:solidFill>
                          <a:latin typeface="Segoe UI"/>
                        </a:rPr>
                        <a:t>Phase (pre-project report)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Planned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Actual execution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B2430"/>
                          </a:solidFill>
                          <a:latin typeface="Segoe UI"/>
                        </a:rPr>
                        <a:t>1  Literature review &amp; theory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B2430"/>
                          </a:solidFill>
                          <a:latin typeface="Segoe UI"/>
                        </a:rPr>
                        <a:t>Dec 25 · Eliran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B2430"/>
                          </a:solidFill>
                          <a:latin typeface="Segoe UI"/>
                        </a:rPr>
                        <a:t>Done. Transformer arch, HW quantization, FPGA accel surveyed; 8 refs cited.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B2430"/>
                          </a:solidFill>
                          <a:latin typeface="Segoe UI"/>
                        </a:rPr>
                        <a:t>2  Architecture &amp; methodology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B2430"/>
                          </a:solidFill>
                          <a:latin typeface="Segoe UI"/>
                        </a:rPr>
                        <a:t>Jan 26 · Shay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B2430"/>
                          </a:solidFill>
                          <a:latin typeface="Segoe UI"/>
                        </a:rPr>
                        <a:t>Done. Weight-stationary 16×16 INT8 array + fused fixed-point Softmax/GELU. RTL flow chosen over HLS.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B2430"/>
                          </a:solidFill>
                          <a:latin typeface="Segoe UI"/>
                        </a:rPr>
                        <a:t>3  Critical component / POC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B2430"/>
                          </a:solidFill>
                          <a:latin typeface="Segoe UI"/>
                        </a:rPr>
                        <a:t>Feb 26 · Eliran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B2430"/>
                          </a:solidFill>
                          <a:latin typeface="Segoe UI"/>
                        </a:rPr>
                        <a:t>Done. MM_ultra core built &amp; verified in Cadence Xcelium vs. a SystemVerilog golden model.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B2430"/>
                          </a:solidFill>
                          <a:latin typeface="Segoe UI"/>
                        </a:rPr>
                        <a:t>4  Full impl. &amp; integration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B2430"/>
                          </a:solidFill>
                          <a:latin typeface="Segoe UI"/>
                        </a:rPr>
                        <a:t>Apr 26 · Shay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B2430"/>
                          </a:solidFill>
                          <a:latin typeface="Segoe UI"/>
                        </a:rPr>
                        <a:t>Done, expanded: full pipeline AXI-wrapped from scratch; 60 async-reset blocks fixed / 12 files; 6 stale script params corrected.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B2430"/>
                          </a:solidFill>
                          <a:latin typeface="Segoe UI"/>
                        </a:rPr>
                        <a:t>5  Performance test &amp; calibration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B2430"/>
                          </a:solidFill>
                          <a:latin typeface="Segoe UI"/>
                        </a:rPr>
                        <a:t>May 26 · Eliran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B2430"/>
                          </a:solidFill>
                          <a:latin typeface="Segoe UI"/>
                        </a:rPr>
                        <a:t>Done. PYNQ-Z2 bring-up; full-scale run 0/32,000 errors; 'calibration' became the DSP-inference fix (LUT </a:t>
                      </a:r>
                      <a:r>
                        <a:rPr lang="he-IL" sz="100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1000" dirty="0">
                          <a:solidFill>
                            <a:srgbClr val="1B2430"/>
                          </a:solidFill>
                          <a:latin typeface="Segoe UI"/>
                        </a:rPr>
                        <a:t>49%, power </a:t>
                      </a:r>
                      <a:r>
                        <a:rPr lang="he-IL" sz="100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1000" dirty="0">
                          <a:solidFill>
                            <a:srgbClr val="1B2430"/>
                          </a:solidFill>
                          <a:latin typeface="Segoe UI"/>
                        </a:rPr>
                        <a:t>3%).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B2430"/>
                          </a:solidFill>
                          <a:latin typeface="Segoe UI"/>
                        </a:rPr>
                        <a:t>6  Results analysis &amp; report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B2430"/>
                          </a:solidFill>
                          <a:latin typeface="Segoe UI"/>
                        </a:rPr>
                        <a:t>Jun 26 · both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dirty="0">
                          <a:solidFill>
                            <a:srgbClr val="1B2430"/>
                          </a:solidFill>
                          <a:latin typeface="Segoe UI"/>
                        </a:rPr>
                        <a:t>Done. Kernel benchmark vs. on-chip ARM (70</a:t>
                      </a:r>
                      <a:r>
                        <a:rPr lang="he-IL" sz="100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1000" dirty="0">
                          <a:solidFill>
                            <a:srgbClr val="1B2430"/>
                          </a:solidFill>
                          <a:latin typeface="Segoe UI"/>
                        </a:rPr>
                        <a:t>98×). GPU / end-to-end-</a:t>
                      </a:r>
                      <a:r>
                        <a:rPr sz="1000" dirty="0" err="1">
                          <a:solidFill>
                            <a:srgbClr val="1B2430"/>
                          </a:solidFill>
                          <a:latin typeface="Segoe UI"/>
                        </a:rPr>
                        <a:t>ViT</a:t>
                      </a:r>
                      <a:r>
                        <a:rPr sz="1000" dirty="0">
                          <a:solidFill>
                            <a:srgbClr val="1B2430"/>
                          </a:solidFill>
                          <a:latin typeface="Segoe UI"/>
                        </a:rPr>
                        <a:t> comparison dropped after workload-mismatch analysis.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B2430"/>
                          </a:solidFill>
                          <a:latin typeface="Segoe UI"/>
                        </a:rPr>
                        <a:t>Schedule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B2430"/>
                          </a:solidFill>
                          <a:latin typeface="Segoe UI"/>
                        </a:rPr>
                        <a:t>Final pres. Jun 26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>
                          <a:solidFill>
                            <a:srgbClr val="1B2430"/>
                          </a:solidFill>
                          <a:latin typeface="Segoe UI"/>
                        </a:rPr>
                        <a:t>Final report Sep 22 2026 (~3-month slip): early environment/infrastructure debugging + added integration scope.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"/>
            <a:ext cx="9052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077E0"/>
                </a:solidFill>
                <a:latin typeface="Segoe UI"/>
              </a:rPr>
              <a:t>8 · WHAT WAS HARD, WHAT IS STILL OPEN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Challenges &amp; engineering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63040"/>
            <a:ext cx="553212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5532120" cy="475488"/>
          </a:xfrm>
          <a:prstGeom prst="roundRect">
            <a:avLst>
              <a:gd name="adj" fmla="val 14000"/>
            </a:avLst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STANDING BOTTLENECKS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5029200" cy="1597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00" dirty="0">
                <a:solidFill>
                  <a:srgbClr val="1B2430"/>
                </a:solidFill>
                <a:latin typeface="Segoe UI"/>
              </a:rPr>
              <a:t>64 KB single-transfer DMA ceiling (16-bit length reg). Blocks the 768-wide </a:t>
            </a:r>
            <a:r>
              <a:rPr sz="1200" dirty="0" err="1">
                <a:solidFill>
                  <a:srgbClr val="1B2430"/>
                </a:solidFill>
                <a:latin typeface="Segoe UI"/>
              </a:rPr>
              <a:t>ViT</a:t>
            </a:r>
            <a:r>
              <a:rPr sz="1200" dirty="0">
                <a:solidFill>
                  <a:srgbClr val="1B2430"/>
                </a:solidFill>
                <a:latin typeface="Segoe UI"/>
              </a:rPr>
              <a:t>-Tiny MLP and all batching.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0" dirty="0">
                <a:solidFill>
                  <a:srgbClr val="5B6570"/>
                </a:solidFill>
                <a:latin typeface="Segoe UI"/>
              </a:rPr>
              <a:t>     </a:t>
            </a:r>
            <a:r>
              <a:rPr lang="he-IL" sz="1200" b="0" dirty="0">
                <a:solidFill>
                  <a:srgbClr val="5B6570"/>
                </a:solidFill>
                <a:latin typeface="Segoe UI"/>
              </a:rPr>
              <a:t>-</a:t>
            </a:r>
            <a:r>
              <a:rPr sz="1200" b="0" dirty="0">
                <a:solidFill>
                  <a:srgbClr val="5B6570"/>
                </a:solidFill>
                <a:latin typeface="Segoe UI"/>
              </a:rPr>
              <a:t> </a:t>
            </a:r>
            <a:r>
              <a:rPr sz="1100" dirty="0">
                <a:solidFill>
                  <a:srgbClr val="5B6570"/>
                </a:solidFill>
                <a:latin typeface="Segoe UI"/>
              </a:rPr>
              <a:t>chunking is unsafe: </a:t>
            </a:r>
            <a:r>
              <a:rPr sz="1100" dirty="0" err="1">
                <a:solidFill>
                  <a:srgbClr val="5B6570"/>
                </a:solidFill>
                <a:latin typeface="Segoe UI"/>
              </a:rPr>
              <a:t>tlast</a:t>
            </a:r>
            <a:r>
              <a:rPr sz="1100" dirty="0">
                <a:solidFill>
                  <a:srgbClr val="5B6570"/>
                </a:solidFill>
                <a:latin typeface="Segoe UI"/>
              </a:rPr>
              <a:t> resets the buffer write-address counter every transfer → chunk 2 overwrites chunk 1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120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00" dirty="0">
                <a:solidFill>
                  <a:srgbClr val="1B2430"/>
                </a:solidFill>
                <a:latin typeface="Segoe UI"/>
              </a:rPr>
              <a:t>Serial </a:t>
            </a:r>
            <a:r>
              <a:rPr sz="1200" dirty="0" err="1">
                <a:solidFill>
                  <a:srgbClr val="1B2430"/>
                </a:solidFill>
                <a:latin typeface="Segoe UI"/>
              </a:rPr>
              <a:t>Softmax</a:t>
            </a:r>
            <a:r>
              <a:rPr sz="1200" dirty="0">
                <a:solidFill>
                  <a:srgbClr val="1B2430"/>
                </a:solidFill>
                <a:latin typeface="Segoe UI"/>
              </a:rPr>
              <a:t>: parallel 2-D array (</a:t>
            </a:r>
            <a:r>
              <a:rPr sz="1200" dirty="0" err="1">
                <a:solidFill>
                  <a:srgbClr val="1B2430"/>
                </a:solidFill>
                <a:latin typeface="Segoe UI"/>
              </a:rPr>
              <a:t>A_size</a:t>
            </a:r>
            <a:r>
              <a:rPr sz="1200" dirty="0">
                <a:solidFill>
                  <a:srgbClr val="1B2430"/>
                </a:solidFill>
                <a:latin typeface="Segoe UI"/>
              </a:rPr>
              <a:t> results/cycle) feeding a 1-scalar/cycle, 3N-cycle stage </a:t>
            </a:r>
            <a:r>
              <a:rPr lang="he-IL" sz="1200" dirty="0">
                <a:solidFill>
                  <a:srgbClr val="1B2430"/>
                </a:solidFill>
                <a:latin typeface="Segoe UI"/>
              </a:rPr>
              <a:t>-</a:t>
            </a:r>
            <a:r>
              <a:rPr sz="1200" dirty="0">
                <a:solidFill>
                  <a:srgbClr val="1B2430"/>
                </a:solidFill>
                <a:latin typeface="Segoe UI"/>
              </a:rPr>
              <a:t> a structural throughput limit.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6304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5080" y="1463040"/>
            <a:ext cx="5212080" cy="475488"/>
          </a:xfrm>
          <a:prstGeom prst="roundRect">
            <a:avLst>
              <a:gd name="adj" fmla="val 14000"/>
            </a:avLst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REPRESENTATIVE DEBUGGING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48840"/>
            <a:ext cx="4754880" cy="21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00" dirty="0">
                <a:solidFill>
                  <a:srgbClr val="1B2430"/>
                </a:solidFill>
                <a:latin typeface="Segoe UI"/>
              </a:rPr>
              <a:t>Async-reset DRC: one root cause chased through 12 files / 3 re-synth rounds → project-wide grep audit.</a:t>
            </a:r>
          </a:p>
          <a:p>
            <a:pPr>
              <a:lnSpc>
                <a:spcPct val="114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00" dirty="0">
                <a:solidFill>
                  <a:srgbClr val="1B2430"/>
                </a:solidFill>
                <a:latin typeface="Segoe UI"/>
              </a:rPr>
              <a:t>Elaboration-time memory blow-up from a generate-unrolled test array → on-demand packing functions (5.9 GB → 51 MB).</a:t>
            </a:r>
          </a:p>
          <a:p>
            <a:pPr>
              <a:lnSpc>
                <a:spcPct val="114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00" dirty="0">
                <a:solidFill>
                  <a:srgbClr val="1B2430"/>
                </a:solidFill>
                <a:latin typeface="Segoe UI"/>
              </a:rPr>
              <a:t>A comprehensively stale PYNQ driver, rebuilt from the real register map.</a:t>
            </a:r>
          </a:p>
          <a:p>
            <a:pPr>
              <a:lnSpc>
                <a:spcPct val="114000"/>
              </a:lnSpc>
              <a:spcBef>
                <a:spcPts val="900"/>
              </a:spcBef>
              <a:spcAft>
                <a:spcPts val="0"/>
              </a:spcAft>
            </a:pPr>
            <a:r>
              <a:rPr sz="1200" b="1" dirty="0">
                <a:solidFill>
                  <a:srgbClr val="2077E0"/>
                </a:solidFill>
                <a:latin typeface="Segoe UI"/>
              </a:rPr>
              <a:t>▸  </a:t>
            </a:r>
            <a:r>
              <a:rPr sz="1200" dirty="0">
                <a:solidFill>
                  <a:srgbClr val="1B2430"/>
                </a:solidFill>
                <a:latin typeface="Segoe UI"/>
              </a:rPr>
              <a:t>Tiny-shape HW mismatch traced to a single-row address-counter edge case </a:t>
            </a:r>
            <a:r>
              <a:rPr lang="he-IL" sz="1200" dirty="0">
                <a:solidFill>
                  <a:srgbClr val="1B2430"/>
                </a:solidFill>
                <a:latin typeface="Segoe UI"/>
              </a:rPr>
              <a:t>-</a:t>
            </a:r>
            <a:r>
              <a:rPr sz="1200" dirty="0">
                <a:solidFill>
                  <a:srgbClr val="1B2430"/>
                </a:solidFill>
                <a:latin typeface="Segoe UI"/>
              </a:rPr>
              <a:t> not a design flaw (re-ran the verified shape to confirm).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54864"/>
            <a:ext cx="9052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077E0"/>
                </a:solidFill>
                <a:latin typeface="Segoe UI"/>
              </a:rPr>
              <a:t>8 · NEXT ITERATION</a:t>
            </a:r>
          </a:p>
          <a:p>
            <a:r>
              <a:rPr sz="2600" b="1">
                <a:solidFill>
                  <a:srgbClr val="FFFFFF"/>
                </a:solidFill>
                <a:latin typeface="Segoe UI"/>
              </a:rPr>
              <a:t>Improvements &amp; architectural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55448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08760"/>
            <a:ext cx="9784080" cy="5171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 dirty="0">
                <a:solidFill>
                  <a:srgbClr val="1B2430"/>
                </a:solidFill>
                <a:latin typeface="Segoe UI"/>
              </a:rPr>
              <a:t>Scatter-Gather DMA  </a:t>
            </a:r>
            <a:r>
              <a:rPr lang="he-IL" sz="1400" b="1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400" b="1" i="0" dirty="0">
                <a:solidFill>
                  <a:srgbClr val="1B2430"/>
                </a:solidFill>
                <a:latin typeface="Segoe UI"/>
              </a:rPr>
              <a:t>  </a:t>
            </a:r>
            <a:r>
              <a:rPr sz="1250" b="0" i="0" dirty="0">
                <a:solidFill>
                  <a:srgbClr val="5B6570"/>
                </a:solidFill>
                <a:latin typeface="Segoe UI"/>
              </a:rPr>
              <a:t>Replace direct-register DMA (or re-</a:t>
            </a:r>
            <a:r>
              <a:rPr sz="1250" b="0" i="0" dirty="0" err="1">
                <a:solidFill>
                  <a:srgbClr val="5B6570"/>
                </a:solidFill>
                <a:latin typeface="Segoe UI"/>
              </a:rPr>
              <a:t>synthesise</a:t>
            </a:r>
            <a:r>
              <a:rPr sz="1250" b="0" i="0" dirty="0">
                <a:solidFill>
                  <a:srgbClr val="5B6570"/>
                </a:solidFill>
                <a:latin typeface="Segoe UI"/>
              </a:rPr>
              <a:t> with a wider transfer-length register). Per-descriptor frame-boundary control removes the 64 KB ceiling → full-width MLP + batching + a real end-to-end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2491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724912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79192"/>
            <a:ext cx="9784080" cy="5171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 dirty="0">
                <a:solidFill>
                  <a:srgbClr val="1B2430"/>
                </a:solidFill>
                <a:latin typeface="Segoe UI"/>
              </a:rPr>
              <a:t>Decouple the three stages  </a:t>
            </a:r>
            <a:r>
              <a:rPr lang="he-IL" sz="1400" b="1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400" b="1" i="0" dirty="0">
                <a:solidFill>
                  <a:srgbClr val="1B2430"/>
                </a:solidFill>
                <a:latin typeface="Segoe UI"/>
              </a:rPr>
              <a:t>  </a:t>
            </a:r>
            <a:r>
              <a:rPr sz="1250" b="0" i="0" dirty="0" err="1">
                <a:solidFill>
                  <a:srgbClr val="5B6570"/>
                </a:solidFill>
                <a:latin typeface="Segoe UI"/>
              </a:rPr>
              <a:t>Matmul</a:t>
            </a:r>
            <a:r>
              <a:rPr sz="1250" b="0" i="0" dirty="0">
                <a:solidFill>
                  <a:srgbClr val="5B6570"/>
                </a:solidFill>
                <a:latin typeface="Segoe UI"/>
              </a:rPr>
              <a:t> / </a:t>
            </a:r>
            <a:r>
              <a:rPr sz="1250" b="0" i="0" dirty="0" err="1">
                <a:solidFill>
                  <a:srgbClr val="5B6570"/>
                </a:solidFill>
                <a:latin typeface="Segoe UI"/>
              </a:rPr>
              <a:t>Softmax</a:t>
            </a:r>
            <a:r>
              <a:rPr sz="1250" b="0" i="0" dirty="0">
                <a:solidFill>
                  <a:srgbClr val="5B6570"/>
                </a:solidFill>
                <a:latin typeface="Segoe UI"/>
              </a:rPr>
              <a:t> / GELU as independent streaming nodes with true backpressure; add the missing GELU skid buffer. Addresses the serial-</a:t>
            </a:r>
            <a:r>
              <a:rPr sz="1250" b="0" i="0" dirty="0" err="1">
                <a:solidFill>
                  <a:srgbClr val="5B6570"/>
                </a:solidFill>
                <a:latin typeface="Segoe UI"/>
              </a:rPr>
              <a:t>Softmax</a:t>
            </a:r>
            <a:r>
              <a:rPr sz="1250" b="0" i="0" dirty="0">
                <a:solidFill>
                  <a:srgbClr val="5B6570"/>
                </a:solidFill>
                <a:latin typeface="Segoe UI"/>
              </a:rPr>
              <a:t> bottleneck directly.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95344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895344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849624"/>
            <a:ext cx="9784080" cy="307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 dirty="0">
                <a:solidFill>
                  <a:srgbClr val="1B2430"/>
                </a:solidFill>
                <a:latin typeface="Segoe UI"/>
              </a:rPr>
              <a:t>Parallel / pipelined </a:t>
            </a:r>
            <a:r>
              <a:rPr sz="1400" b="1" i="0" dirty="0" err="1">
                <a:solidFill>
                  <a:srgbClr val="1B2430"/>
                </a:solidFill>
                <a:latin typeface="Segoe UI"/>
              </a:rPr>
              <a:t>Softmax</a:t>
            </a:r>
            <a:r>
              <a:rPr sz="1400" b="1" i="0" dirty="0">
                <a:solidFill>
                  <a:srgbClr val="1B2430"/>
                </a:solidFill>
                <a:latin typeface="Segoe UI"/>
              </a:rPr>
              <a:t>  </a:t>
            </a:r>
            <a:r>
              <a:rPr lang="he-IL" sz="1400" b="1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400" b="1" i="0" dirty="0">
                <a:solidFill>
                  <a:srgbClr val="1B2430"/>
                </a:solidFill>
                <a:latin typeface="Segoe UI"/>
              </a:rPr>
              <a:t>  </a:t>
            </a:r>
            <a:r>
              <a:rPr sz="1250" b="0" i="0" dirty="0">
                <a:solidFill>
                  <a:srgbClr val="5B6570"/>
                </a:solidFill>
                <a:latin typeface="Segoe UI"/>
              </a:rPr>
              <a:t>Break the 3N-cycle serial structure </a:t>
            </a:r>
            <a:r>
              <a:rPr lang="he-IL" sz="1250" b="0" i="0" dirty="0">
                <a:solidFill>
                  <a:srgbClr val="5B6570"/>
                </a:solidFill>
                <a:latin typeface="Segoe UI"/>
              </a:rPr>
              <a:t>-</a:t>
            </a:r>
            <a:r>
              <a:rPr sz="1250" b="0" i="0" dirty="0">
                <a:solidFill>
                  <a:srgbClr val="5B6570"/>
                </a:solidFill>
                <a:latin typeface="Segoe UI"/>
              </a:rPr>
              <a:t> the single largest throughput lever, independent of clock or DSP.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06577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5065776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020056"/>
            <a:ext cx="9784080" cy="5171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 dirty="0">
                <a:solidFill>
                  <a:srgbClr val="1B2430"/>
                </a:solidFill>
                <a:latin typeface="Segoe UI"/>
              </a:rPr>
              <a:t>Correct PYNQ-Z2 board files  </a:t>
            </a:r>
            <a:r>
              <a:rPr lang="he-IL" sz="1400" b="1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400" b="1" i="0" dirty="0">
                <a:solidFill>
                  <a:srgbClr val="1B2430"/>
                </a:solidFill>
                <a:latin typeface="Segoe UI"/>
              </a:rPr>
              <a:t>  </a:t>
            </a:r>
            <a:r>
              <a:rPr sz="1250" b="0" i="0" dirty="0">
                <a:solidFill>
                  <a:srgbClr val="5B6570"/>
                </a:solidFill>
                <a:latin typeface="Segoe UI"/>
              </a:rPr>
              <a:t>Install the vendor board files and re-apply the DDR3 preset (currently PYNQ-Z1-derived, flagged inline).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8 · COST &amp; RESOURCES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Logistics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budget, tooling, 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ECEEF1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5029200" cy="1722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 dirty="0">
                <a:solidFill>
                  <a:srgbClr val="1B2430"/>
                </a:solidFill>
                <a:latin typeface="Segoe UI"/>
              </a:rPr>
              <a:t>Budget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 dirty="0">
                <a:solidFill>
                  <a:srgbClr val="1B2430"/>
                </a:solidFill>
                <a:latin typeface="Segoe UI"/>
              </a:rPr>
              <a:t>▸  PYNQ-Z2 board (Zynq-7020)   ~ $199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 dirty="0">
                <a:solidFill>
                  <a:srgbClr val="1B2430"/>
                </a:solidFill>
                <a:latin typeface="Segoe UI"/>
              </a:rPr>
              <a:t>▸  </a:t>
            </a:r>
            <a:r>
              <a:rPr sz="1250" b="0" i="0" dirty="0" err="1">
                <a:solidFill>
                  <a:srgbClr val="1B2430"/>
                </a:solidFill>
                <a:latin typeface="Segoe UI"/>
              </a:rPr>
              <a:t>Vivado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 / Vitis </a:t>
            </a:r>
            <a:r>
              <a:rPr lang="he-IL" sz="1250" b="0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 university / </a:t>
            </a:r>
            <a:r>
              <a:rPr sz="1250" b="0" i="0" dirty="0" err="1">
                <a:solidFill>
                  <a:srgbClr val="1B2430"/>
                </a:solidFill>
                <a:latin typeface="Segoe UI"/>
              </a:rPr>
              <a:t>WebPACK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 license   </a:t>
            </a:r>
            <a:r>
              <a:rPr lang="he-IL" sz="1250" b="0" i="0" dirty="0">
                <a:solidFill>
                  <a:srgbClr val="1B2430"/>
                </a:solidFill>
                <a:latin typeface="Segoe UI"/>
              </a:rPr>
              <a:t>-</a:t>
            </a:r>
            <a:endParaRPr sz="1250" b="0" i="0" dirty="0">
              <a:solidFill>
                <a:srgbClr val="1B2430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 dirty="0">
                <a:solidFill>
                  <a:srgbClr val="1B2430"/>
                </a:solidFill>
                <a:latin typeface="Segoe UI"/>
              </a:rPr>
              <a:t>▸  Cadence </a:t>
            </a:r>
            <a:r>
              <a:rPr sz="1250" b="0" i="0" dirty="0" err="1">
                <a:solidFill>
                  <a:srgbClr val="1B2430"/>
                </a:solidFill>
                <a:latin typeface="Segoe UI"/>
              </a:rPr>
              <a:t>Xcelium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 </a:t>
            </a:r>
            <a:r>
              <a:rPr lang="he-IL" sz="1250" b="0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 university license   </a:t>
            </a:r>
            <a:r>
              <a:rPr lang="he-IL" sz="1250" b="0" i="0" dirty="0">
                <a:solidFill>
                  <a:srgbClr val="1B2430"/>
                </a:solidFill>
                <a:latin typeface="Segoe UI"/>
              </a:rPr>
              <a:t>-</a:t>
            </a:r>
            <a:endParaRPr sz="1250" b="0" i="0" dirty="0">
              <a:solidFill>
                <a:srgbClr val="1B2430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50" b="0" i="0" dirty="0">
                <a:solidFill>
                  <a:srgbClr val="1B2430"/>
                </a:solidFill>
                <a:latin typeface="Segoe UI"/>
              </a:rPr>
              <a:t>▸  Python / NumPy / </a:t>
            </a:r>
            <a:r>
              <a:rPr sz="1250" b="0" i="0" dirty="0" err="1">
                <a:solidFill>
                  <a:srgbClr val="1B2430"/>
                </a:solidFill>
                <a:latin typeface="Segoe UI"/>
              </a:rPr>
              <a:t>PyTorch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 (</a:t>
            </a:r>
            <a:r>
              <a:rPr sz="1250" b="0" i="0" dirty="0" err="1">
                <a:solidFill>
                  <a:srgbClr val="1B2430"/>
                </a:solidFill>
                <a:latin typeface="Segoe UI"/>
              </a:rPr>
              <a:t>timm</a:t>
            </a:r>
            <a:r>
              <a:rPr sz="1250" b="0" i="0" dirty="0">
                <a:solidFill>
                  <a:srgbClr val="1B2430"/>
                </a:solidFill>
                <a:latin typeface="Segoe UI"/>
              </a:rPr>
              <a:t>)   free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150" b="0" i="1" dirty="0">
                <a:solidFill>
                  <a:srgbClr val="5B6570"/>
                </a:solidFill>
                <a:latin typeface="Segoe UI"/>
              </a:rPr>
              <a:t>Total hardware outlay ≈ $199. No cloud / fabrication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074920" cy="3017520"/>
          </a:xfrm>
          <a:prstGeom prst="roundRect">
            <a:avLst>
              <a:gd name="adj" fmla="val 6000"/>
            </a:avLst>
          </a:prstGeom>
          <a:solidFill>
            <a:srgbClr val="ECEEF1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645920"/>
            <a:ext cx="4617720" cy="15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 dirty="0">
                <a:solidFill>
                  <a:srgbClr val="1B2430"/>
                </a:solidFill>
                <a:latin typeface="Segoe UI"/>
              </a:rPr>
              <a:t>Effort split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00" b="0" i="0" dirty="0">
                <a:solidFill>
                  <a:srgbClr val="1B2430"/>
                </a:solidFill>
                <a:latin typeface="Segoe UI"/>
              </a:rPr>
              <a:t>▸  Eliran </a:t>
            </a:r>
            <a:r>
              <a:rPr lang="he-IL" sz="1200" b="0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200" b="0" i="0" dirty="0">
                <a:solidFill>
                  <a:srgbClr val="1B2430"/>
                </a:solidFill>
                <a:latin typeface="Segoe UI"/>
              </a:rPr>
              <a:t> literature, </a:t>
            </a:r>
            <a:r>
              <a:rPr sz="1200" b="0" i="0" dirty="0" err="1">
                <a:solidFill>
                  <a:srgbClr val="1B2430"/>
                </a:solidFill>
                <a:latin typeface="Segoe UI"/>
              </a:rPr>
              <a:t>matmul</a:t>
            </a:r>
            <a:r>
              <a:rPr sz="1200" b="0" i="0" dirty="0">
                <a:solidFill>
                  <a:srgbClr val="1B2430"/>
                </a:solidFill>
                <a:latin typeface="Segoe UI"/>
              </a:rPr>
              <a:t> core &amp; POC, verification, silicon bring-up &amp; benchmarking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0" dirty="0">
                <a:solidFill>
                  <a:srgbClr val="1B2430"/>
                </a:solidFill>
                <a:latin typeface="Segoe UI"/>
              </a:rPr>
              <a:t>▸  Shay </a:t>
            </a:r>
            <a:r>
              <a:rPr lang="he-IL" sz="1200" b="0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200" b="0" i="0" dirty="0">
                <a:solidFill>
                  <a:srgbClr val="1B2430"/>
                </a:solidFill>
                <a:latin typeface="Segoe UI"/>
              </a:rPr>
              <a:t> architecture selection, full-system integration, AXI wrapper, physical signoff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0" dirty="0">
                <a:solidFill>
                  <a:srgbClr val="1B2430"/>
                </a:solidFill>
                <a:latin typeface="Segoe UI"/>
              </a:rPr>
              <a:t>▸  Both </a:t>
            </a:r>
            <a:r>
              <a:rPr lang="he-IL" sz="1200" b="0" i="0" dirty="0">
                <a:solidFill>
                  <a:srgbClr val="1B2430"/>
                </a:solidFill>
                <a:latin typeface="Segoe UI"/>
              </a:rPr>
              <a:t>-</a:t>
            </a:r>
            <a:r>
              <a:rPr sz="1200" b="0" i="0" dirty="0">
                <a:solidFill>
                  <a:srgbClr val="1B2430"/>
                </a:solidFill>
                <a:latin typeface="Segoe UI"/>
              </a:rPr>
              <a:t> results analysis, report &amp; presentations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744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828032"/>
            <a:ext cx="10241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B2430"/>
                </a:solidFill>
                <a:latin typeface="Segoe UI"/>
              </a:rPr>
              <a:t>Key references   </a:t>
            </a:r>
            <a:r>
              <a:rPr sz="1050" b="0" i="0">
                <a:solidFill>
                  <a:srgbClr val="5B6570"/>
                </a:solidFill>
                <a:latin typeface="Segoe UI"/>
              </a:rPr>
              <a:t>[1] Vaswani et al., Attention Is All You Need, NeurIPS 2017   ·   [3] Marino et al., ME-ViT, HiPC 2023   ·   [4] Li et al., FTRANS, ISLPED 2020   ·   [6] AMD/Xilinx UG901 (Synthesis)   ·   [7] Dosovitskiy et al., ViT, ICLR 2021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9 · ALIGNED WITH THE FIVE SPECIFIC OBJECTIVES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Conclusions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one recommendation per objective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24712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dirty="0"/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Delivered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Recommendation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Segoe UI"/>
                        </a:rPr>
                        <a:t>O1  Core + engines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B2430"/>
                          </a:solidFill>
                          <a:latin typeface="Segoe UI"/>
                        </a:rPr>
                        <a:t>16×16 INT8 array + fused fixed-point </a:t>
                      </a:r>
                      <a:r>
                        <a:rPr sz="1050" dirty="0" err="1">
                          <a:solidFill>
                            <a:srgbClr val="1B2430"/>
                          </a:solidFill>
                          <a:latin typeface="Segoe UI"/>
                        </a:rPr>
                        <a:t>Softmax</a:t>
                      </a:r>
                      <a:r>
                        <a:rPr sz="1050" dirty="0">
                          <a:solidFill>
                            <a:srgbClr val="1B2430"/>
                          </a:solidFill>
                          <a:latin typeface="Segoe UI"/>
                        </a:rPr>
                        <a:t>/GELU, </a:t>
                      </a:r>
                      <a:r>
                        <a:rPr sz="1050" dirty="0" err="1">
                          <a:solidFill>
                            <a:srgbClr val="1B2430"/>
                          </a:solidFill>
                          <a:latin typeface="Segoe UI"/>
                        </a:rPr>
                        <a:t>formalised</a:t>
                      </a:r>
                      <a:r>
                        <a:rPr sz="1050" dirty="0">
                          <a:solidFill>
                            <a:srgbClr val="1B2430"/>
                          </a:solidFill>
                          <a:latin typeface="Segoe UI"/>
                        </a:rPr>
                        <a:t> as Eq. 1</a:t>
                      </a:r>
                      <a:r>
                        <a:rPr lang="he-IL" sz="105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1050" dirty="0">
                          <a:solidFill>
                            <a:srgbClr val="1B2430"/>
                          </a:solidFill>
                          <a:latin typeface="Segoe UI"/>
                        </a:rPr>
                        <a:t>2.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Decouple the 3 stages into streaming nodes with backpressure.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Segoe UI"/>
                        </a:rPr>
                        <a:t>O2  Verification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0 / 32,000 error at the verified scale, sim ≡ silicon.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Extend the golden-model sweep to small / edge shapes (F_length = 1, 2-row).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Segoe UI"/>
                        </a:rPr>
                        <a:t>O3  SoC bring-up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Runs on real PYNQ-Z2 via the PYNQ driver.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Install vendor PYNQ-Z2 board files; re-apply the DDR3 preset.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Segoe UI"/>
                        </a:rPr>
                        <a:t>O4  Physical signoff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B2430"/>
                          </a:solidFill>
                          <a:latin typeface="Segoe UI"/>
                        </a:rPr>
                        <a:t>Timing met @ 100 MHz; LUT </a:t>
                      </a:r>
                      <a:r>
                        <a:rPr lang="he-IL" sz="105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1050" dirty="0">
                          <a:solidFill>
                            <a:srgbClr val="1B2430"/>
                          </a:solidFill>
                          <a:latin typeface="Segoe UI"/>
                        </a:rPr>
                        <a:t>49.3%, power </a:t>
                      </a:r>
                      <a:r>
                        <a:rPr lang="he-IL" sz="105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1050" dirty="0">
                          <a:solidFill>
                            <a:srgbClr val="1B2430"/>
                          </a:solidFill>
                          <a:latin typeface="Segoe UI"/>
                        </a:rPr>
                        <a:t>3.1% from one RTL-local fix.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Adopt the register-level use_dsp pattern as the project standard.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1B2430"/>
                          </a:solidFill>
                          <a:latin typeface="Segoe UI"/>
                        </a:rPr>
                        <a:t>O5  Evaluation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dirty="0">
                          <a:solidFill>
                            <a:srgbClr val="1B2430"/>
                          </a:solidFill>
                          <a:latin typeface="Segoe UI"/>
                        </a:rPr>
                        <a:t>70</a:t>
                      </a:r>
                      <a:r>
                        <a:rPr lang="he-IL" sz="105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1050" dirty="0">
                          <a:solidFill>
                            <a:srgbClr val="1B2430"/>
                          </a:solidFill>
                          <a:latin typeface="Segoe UI"/>
                        </a:rPr>
                        <a:t>98× kernel speedup, 2.25 GOPS/W; honest </a:t>
                      </a:r>
                      <a:r>
                        <a:rPr sz="1050" dirty="0" err="1">
                          <a:solidFill>
                            <a:srgbClr val="1B2430"/>
                          </a:solidFill>
                          <a:latin typeface="Segoe UI"/>
                        </a:rPr>
                        <a:t>ViT</a:t>
                      </a:r>
                      <a:r>
                        <a:rPr sz="1050" dirty="0">
                          <a:solidFill>
                            <a:srgbClr val="1B2430"/>
                          </a:solidFill>
                          <a:latin typeface="Segoe UI"/>
                        </a:rPr>
                        <a:t> workload analysis.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1B2430"/>
                          </a:solidFill>
                          <a:latin typeface="Segoe UI"/>
                        </a:rPr>
                        <a:t>Scatter-Gather DMA → full-width MLP + batched, end-to-end evaluation.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44068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077E0"/>
                </a:solidFill>
                <a:latin typeface="Segoe UI"/>
              </a:rPr>
              <a:t>Governing discipline throughout:  </a:t>
            </a:r>
            <a:r>
              <a:rPr sz="1250" b="0" i="0">
                <a:solidFill>
                  <a:srgbClr val="FFFFFF"/>
                </a:solidFill>
                <a:latin typeface="Segoe UI"/>
              </a:rPr>
              <a:t>verify every layer against its own ground truth, and report every limitation as precisely as the result being claimed.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874519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6324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C7D0DC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Eliran Turgeman</a:t>
            </a:r>
            <a:r>
              <a:rPr sz="1300" b="0" i="0">
                <a:solidFill>
                  <a:srgbClr val="5B6570"/>
                </a:solidFill>
                <a:latin typeface="Segoe UI"/>
              </a:rPr>
              <a:t>   ·  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Shay Rask</a:t>
            </a:r>
            <a:r>
              <a:rPr sz="1300" b="0" i="0">
                <a:solidFill>
                  <a:srgbClr val="5B6570"/>
                </a:solidFill>
                <a:latin typeface="Segoe UI"/>
              </a:rPr>
              <a:t>     ·     taoFPGA  ·  Project 309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1447" y="4892040"/>
            <a:ext cx="1828800" cy="50292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BACKUP · REPRESENTATIVE ISSUES FROM REPORT APPENDIX A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Appendix A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key engineering debugging wins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1292840" cy="1933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dirty="0">
                          <a:solidFill>
                            <a:srgbClr val="FFFFFF"/>
                          </a:solidFill>
                          <a:latin typeface="Segoe UI"/>
                        </a:rPr>
                        <a:t>Problem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Root cause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Fix &amp; result</a:t>
                      </a:r>
                    </a:p>
                  </a:txBody>
                  <a:tcPr marL="82296" marR="82296" marT="41148" marB="41148" anchor="ctr">
                    <a:solidFill>
                      <a:srgbClr val="1B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B2430"/>
                          </a:solidFill>
                          <a:latin typeface="Segoe UI"/>
                        </a:rPr>
                        <a:t>Xcelium session crash at full scale (200×96×160), during native-code generation  [A.1]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1B2430"/>
                          </a:solidFill>
                          <a:latin typeface="Segoe UI"/>
                        </a:rPr>
                        <a:t>Testbench x/y/z arrays built with a generate loop </a:t>
                      </a:r>
                      <a:r>
                        <a:rPr lang="he-IL" sz="95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950" dirty="0">
                          <a:solidFill>
                            <a:srgbClr val="1B2430"/>
                          </a:solidFill>
                          <a:latin typeface="Segoe UI"/>
                        </a:rPr>
                        <a:t> one elaborated hardware object per scalar; memory grew worse than quadratically (59 MB → &gt;5,900 MB at 128³).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1B2430"/>
                          </a:solidFill>
                          <a:latin typeface="Segoe UI"/>
                        </a:rPr>
                        <a:t>Replaced with automatic functions pack_x_word / pack_y_word / unpack_z_word (compute each word on demand).  ~51 MB / ~4 s, identical 2,894-cycle latency.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B2430"/>
                          </a:solidFill>
                          <a:latin typeface="Segoe UI"/>
                        </a:rPr>
                        <a:t>40+ post-synthesis DRC warnings: block-RAM control logic driven by asynchronously-reset registers  [A.5]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1B2430"/>
                          </a:solidFill>
                          <a:latin typeface="Segoe UI"/>
                        </a:rPr>
                        <a:t>Async reset on BRAM control can corrupt memory outside STA visibility. The pattern recurred one hierarchy level deeper each re-synth </a:t>
                      </a:r>
                      <a:r>
                        <a:rPr lang="he-IL" sz="95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950" dirty="0">
                          <a:solidFill>
                            <a:srgbClr val="1B2430"/>
                          </a:solidFill>
                          <a:latin typeface="Segoe UI"/>
                        </a:rPr>
                        <a:t> 3 named files became 12.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1B2430"/>
                          </a:solidFill>
                          <a:latin typeface="Segoe UI"/>
                        </a:rPr>
                        <a:t>Project-wide grep for the anti-pattern, then converted 60 always blocks across 12 files to synchronous reset.  Bit-for-bit identical simulation after every round.</a:t>
                      </a:r>
                    </a:p>
                  </a:txBody>
                  <a:tcPr marL="82296" marR="82296" marT="41148" marB="41148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 dirty="0" err="1">
                          <a:solidFill>
                            <a:srgbClr val="1B2430"/>
                          </a:solidFill>
                          <a:latin typeface="Segoe UI"/>
                        </a:rPr>
                        <a:t>Softmax_control</a:t>
                      </a:r>
                      <a:r>
                        <a:rPr sz="950" b="1" dirty="0">
                          <a:solidFill>
                            <a:srgbClr val="1B2430"/>
                          </a:solidFill>
                          <a:latin typeface="Segoe UI"/>
                        </a:rPr>
                        <a:t> scale port (4-bit, 7</a:t>
                      </a:r>
                      <a:r>
                        <a:rPr lang="he-IL" sz="950" b="1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950" b="1" dirty="0">
                          <a:solidFill>
                            <a:srgbClr val="1B2430"/>
                          </a:solidFill>
                          <a:latin typeface="Segoe UI"/>
                        </a:rPr>
                        <a:t>12) vs. </a:t>
                      </a:r>
                      <a:r>
                        <a:rPr sz="950" b="1" dirty="0" err="1">
                          <a:solidFill>
                            <a:srgbClr val="1B2430"/>
                          </a:solidFill>
                          <a:latin typeface="Segoe UI"/>
                        </a:rPr>
                        <a:t>gelu.v</a:t>
                      </a:r>
                      <a:r>
                        <a:rPr sz="950" b="1" dirty="0">
                          <a:solidFill>
                            <a:srgbClr val="1B2430"/>
                          </a:solidFill>
                          <a:latin typeface="Segoe UI"/>
                        </a:rPr>
                        <a:t> scale port (3-bit, max 7) </a:t>
                      </a:r>
                      <a:r>
                        <a:rPr lang="he-IL" sz="950" b="1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950" b="1" dirty="0">
                          <a:solidFill>
                            <a:srgbClr val="1B2430"/>
                          </a:solidFill>
                          <a:latin typeface="Segoe UI"/>
                        </a:rPr>
                        <a:t> could only agree at scale = 7  [A.3]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1B2430"/>
                          </a:solidFill>
                          <a:latin typeface="Segoe UI"/>
                        </a:rPr>
                        <a:t>A known, code-commented limitation. </a:t>
                      </a:r>
                      <a:r>
                        <a:rPr sz="950" dirty="0" err="1">
                          <a:solidFill>
                            <a:srgbClr val="1B2430"/>
                          </a:solidFill>
                          <a:latin typeface="Segoe UI"/>
                        </a:rPr>
                        <a:t>gelu.v</a:t>
                      </a:r>
                      <a:r>
                        <a:rPr sz="950" dirty="0">
                          <a:solidFill>
                            <a:srgbClr val="1B2430"/>
                          </a:solidFill>
                          <a:latin typeface="Segoe UI"/>
                        </a:rPr>
                        <a:t> had no shift branch for scale &gt; 7, so a plain port-width bump would silently mis-shift values 8</a:t>
                      </a:r>
                      <a:r>
                        <a:rPr lang="he-IL" sz="95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950" dirty="0">
                          <a:solidFill>
                            <a:srgbClr val="1B2430"/>
                          </a:solidFill>
                          <a:latin typeface="Segoe UI"/>
                        </a:rPr>
                        <a:t>15 as if 7 </a:t>
                      </a:r>
                      <a:r>
                        <a:rPr lang="he-IL" sz="95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950" dirty="0">
                          <a:solidFill>
                            <a:srgbClr val="1B2430"/>
                          </a:solidFill>
                          <a:latin typeface="Segoe UI"/>
                        </a:rPr>
                        <a:t> a correctness bug.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1B2430"/>
                          </a:solidFill>
                          <a:latin typeface="Segoe UI"/>
                        </a:rPr>
                        <a:t>Widened the scale port through all three modules to 4 bits, added the missing shift-direction branch in </a:t>
                      </a:r>
                      <a:r>
                        <a:rPr sz="950" dirty="0" err="1">
                          <a:solidFill>
                            <a:srgbClr val="1B2430"/>
                          </a:solidFill>
                          <a:latin typeface="Segoe UI"/>
                        </a:rPr>
                        <a:t>gelu.v</a:t>
                      </a:r>
                      <a:r>
                        <a:rPr sz="950" dirty="0">
                          <a:solidFill>
                            <a:srgbClr val="1B2430"/>
                          </a:solidFill>
                          <a:latin typeface="Segoe UI"/>
                        </a:rPr>
                        <a:t>, extended the GELU testbench range 0</a:t>
                      </a:r>
                      <a:r>
                        <a:rPr lang="he-IL" sz="95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950" dirty="0">
                          <a:solidFill>
                            <a:srgbClr val="1B2430"/>
                          </a:solidFill>
                          <a:latin typeface="Segoe UI"/>
                        </a:rPr>
                        <a:t>6 → 0</a:t>
                      </a:r>
                      <a:r>
                        <a:rPr lang="he-IL" sz="950" dirty="0">
                          <a:solidFill>
                            <a:srgbClr val="1B2430"/>
                          </a:solidFill>
                          <a:latin typeface="Segoe UI"/>
                        </a:rPr>
                        <a:t>-</a:t>
                      </a:r>
                      <a:r>
                        <a:rPr sz="950" dirty="0">
                          <a:solidFill>
                            <a:srgbClr val="1B2430"/>
                          </a:solidFill>
                          <a:latin typeface="Segoe UI"/>
                        </a:rPr>
                        <a:t>11.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BACKUP · EXACT BASE-2, DIVISION-FREE REFORMULATION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Appendix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3-pass fixed-point </a:t>
            </a:r>
            <a:r>
              <a:rPr sz="2600" b="1" dirty="0" err="1">
                <a:solidFill>
                  <a:srgbClr val="FFFFFF"/>
                </a:solidFill>
                <a:latin typeface="Segoe UI"/>
              </a:rPr>
              <a:t>Softmax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822960" y="1417320"/>
                <a:ext cx="10515600" cy="51090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sz="1350" b="0" i="0" dirty="0">
                    <a:solidFill>
                      <a:srgbClr val="1B2430"/>
                    </a:solidFill>
                    <a:latin typeface="Segoe UI"/>
                  </a:rPr>
                  <a:t>Textbook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:   </m:t>
                    </m:r>
                    <m:r>
                      <a:rPr lang="en-US" sz="1600" b="0" i="1" dirty="0" smtClean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𝑆𝑜𝑓𝑡𝑚𝑎𝑥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6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dirty="0" smtClean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sz="1600" b="0" i="1" dirty="0" smtClean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600" b="0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1600" b="0" i="0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dirty="0">
                                <a:solidFill>
                                  <a:srgbClr val="1B2430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ar-AE" sz="1600" b="0" i="1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600" b="0" i="1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ar-AE" sz="1600" b="0" i="1" baseline="-20000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ar-AE" sz="1600" b="0" i="1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ar-AE" sz="1600" b="0" i="1" dirty="0">
                                    <a:solidFill>
                                      <a:srgbClr val="1B243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ar-AE" sz="1600" i="1" dirty="0">
                            <a:solidFill>
                              <a:srgbClr val="1B243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ar-AE" sz="1600" b="0" i="1" dirty="0">
                        <a:solidFill>
                          <a:srgbClr val="1B2430"/>
                        </a:solidFill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ar-AE" sz="1350" b="0" i="0" dirty="0">
                    <a:solidFill>
                      <a:srgbClr val="1B2430"/>
                    </a:solidFill>
                    <a:latin typeface="Segoe UI"/>
                  </a:rPr>
                  <a:t>→      </a:t>
                </a:r>
                <a:r>
                  <a:rPr lang="en-US" sz="1350" b="1" i="0" dirty="0">
                    <a:solidFill>
                      <a:srgbClr val="1B2430"/>
                    </a:solidFill>
                    <a:latin typeface="Segoe UI"/>
                  </a:rPr>
                  <a:t>hardware uses the base-2, log-domain form the exp / Ln units actually compute:</a:t>
                </a:r>
                <a:endParaRPr sz="1350" b="1" i="0" dirty="0">
                  <a:solidFill>
                    <a:srgbClr val="1B2430"/>
                  </a:solidFill>
                  <a:latin typeface="Segoe UI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417320"/>
                <a:ext cx="10515600" cy="510909"/>
              </a:xfrm>
              <a:prstGeom prst="rect">
                <a:avLst/>
              </a:prstGeom>
              <a:blipFill>
                <a:blip r:embed="rId3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9"/>
              <p:cNvSpPr/>
              <p:nvPr/>
            </p:nvSpPr>
            <p:spPr>
              <a:xfrm>
                <a:off x="822960" y="2194560"/>
                <a:ext cx="2880360" cy="1024128"/>
              </a:xfrm>
              <a:prstGeom prst="roundRect">
                <a:avLst>
                  <a:gd name="adj" fmla="val 6000"/>
                </a:avLst>
              </a:prstGeom>
              <a:solidFill>
                <a:srgbClr val="ECEEF1"/>
              </a:solidFill>
              <a:ln w="12700">
                <a:solidFill>
                  <a:srgbClr val="C9CE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rgbClr val="1B243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dirty="0" smtClean="0">
                          <a:solidFill>
                            <a:srgbClr val="1B243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unc>
                        <m:funcPr>
                          <m:ctrlPr>
                            <a:rPr lang="en-US" b="0" i="1" dirty="0" smtClean="0">
                              <a:solidFill>
                                <a:srgbClr val="1B243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rgbClr val="1B243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i="1" baseline="-20000" dirty="0">
                  <a:solidFill>
                    <a:srgbClr val="1B2430"/>
                  </a:solidFill>
                  <a:latin typeface="Segoe UI"/>
                </a:endParaRPr>
              </a:p>
            </p:txBody>
          </p:sp>
        </mc:Choice>
        <mc:Fallback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194560"/>
                <a:ext cx="2880360" cy="1024128"/>
              </a:xfrm>
              <a:prstGeom prst="roundRect">
                <a:avLst>
                  <a:gd name="adj" fmla="val 6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C9CED6"/>
                </a:solidFill>
              </a:ln>
              <a:effectLst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960120" y="2286000"/>
            <a:ext cx="256032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 i="0" dirty="0">
                <a:solidFill>
                  <a:srgbClr val="2077E0"/>
                </a:solidFill>
                <a:latin typeface="Segoe UI"/>
              </a:rPr>
              <a:t>Pass 1 </a:t>
            </a:r>
            <a:r>
              <a:rPr lang="he-IL" sz="1200" b="1" i="0" dirty="0">
                <a:solidFill>
                  <a:srgbClr val="2077E0"/>
                </a:solidFill>
                <a:latin typeface="Segoe UI"/>
              </a:rPr>
              <a:t>-</a:t>
            </a:r>
            <a:r>
              <a:rPr sz="1200" b="1" i="0" dirty="0">
                <a:solidFill>
                  <a:srgbClr val="2077E0"/>
                </a:solidFill>
                <a:latin typeface="Segoe UI"/>
              </a:rPr>
              <a:t> 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322576"/>
            <a:ext cx="7498079" cy="2851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 dirty="0">
                <a:solidFill>
                  <a:srgbClr val="5B6570"/>
                </a:solidFill>
                <a:latin typeface="Segoe UI"/>
              </a:rPr>
              <a:t>N cycles </a:t>
            </a:r>
            <a:r>
              <a:rPr lang="he-IL" sz="1150" b="0" i="0" dirty="0">
                <a:solidFill>
                  <a:srgbClr val="5B6570"/>
                </a:solidFill>
                <a:latin typeface="Segoe UI"/>
              </a:rPr>
              <a:t>-</a:t>
            </a:r>
            <a:r>
              <a:rPr sz="1150" b="0" i="0" dirty="0">
                <a:solidFill>
                  <a:srgbClr val="5B6570"/>
                </a:solidFill>
                <a:latin typeface="Segoe UI"/>
              </a:rPr>
              <a:t> running comparator finds the row maximum.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ounded Rectangle 13"/>
              <p:cNvSpPr/>
              <p:nvPr/>
            </p:nvSpPr>
            <p:spPr>
              <a:xfrm>
                <a:off x="822960" y="3346704"/>
                <a:ext cx="2880360" cy="1024128"/>
              </a:xfrm>
              <a:prstGeom prst="roundRect">
                <a:avLst>
                  <a:gd name="adj" fmla="val 6000"/>
                </a:avLst>
              </a:prstGeom>
              <a:solidFill>
                <a:srgbClr val="ECEEF1"/>
              </a:solidFill>
              <a:ln w="12700">
                <a:solidFill>
                  <a:srgbClr val="C9CE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>
                          <a:solidFill>
                            <a:srgbClr val="1B243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dirty="0">
                          <a:solidFill>
                            <a:srgbClr val="1B243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dirty="0">
                              <a:solidFill>
                                <a:srgbClr val="1B243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 dirty="0">
                              <a:solidFill>
                                <a:srgbClr val="1B243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rgbClr val="1B243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solidFill>
                                            <a:srgbClr val="1B243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solidFill>
                                            <a:srgbClr val="1B243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solidFill>
                                            <a:srgbClr val="1B243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solidFill>
                                        <a:srgbClr val="1B243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 dirty="0">
                                      <a:solidFill>
                                        <a:srgbClr val="1B243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i="1" dirty="0">
                                      <a:solidFill>
                                        <a:srgbClr val="1B243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i="1" dirty="0">
                                      <a:solidFill>
                                        <a:srgbClr val="1B243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dirty="0">
                                          <a:solidFill>
                                            <a:srgbClr val="1B243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dirty="0">
                                          <a:solidFill>
                                            <a:srgbClr val="1B243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solidFill>
                                            <a:srgbClr val="1B243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i="1" dirty="0">
                                      <a:solidFill>
                                        <a:srgbClr val="1B243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func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4" name="Rounded 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346704"/>
                <a:ext cx="2880360" cy="1024128"/>
              </a:xfrm>
              <a:prstGeom prst="roundRect">
                <a:avLst>
                  <a:gd name="adj" fmla="val 6000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C9CED6"/>
                </a:solidFill>
              </a:ln>
              <a:effectLst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960120" y="3438144"/>
            <a:ext cx="256032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 i="0" dirty="0">
                <a:solidFill>
                  <a:srgbClr val="2077E0"/>
                </a:solidFill>
                <a:latin typeface="Segoe UI"/>
              </a:rPr>
              <a:t>Pass 2 </a:t>
            </a:r>
            <a:r>
              <a:rPr lang="he-IL" sz="1200" b="1" i="0" dirty="0">
                <a:solidFill>
                  <a:srgbClr val="2077E0"/>
                </a:solidFill>
                <a:latin typeface="Segoe UI"/>
              </a:rPr>
              <a:t>-</a:t>
            </a:r>
            <a:r>
              <a:rPr sz="1200" b="1" i="0" dirty="0">
                <a:solidFill>
                  <a:srgbClr val="2077E0"/>
                </a:solidFill>
                <a:latin typeface="Segoe UI"/>
              </a:rPr>
              <a:t> ACCUMULATE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886200" y="3474720"/>
                <a:ext cx="7498079" cy="2851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150" b="0" i="0" dirty="0">
                    <a:solidFill>
                      <a:srgbClr val="5B6570"/>
                    </a:solidFill>
                    <a:latin typeface="Segoe UI"/>
                  </a:rPr>
                  <a:t>N cycles - base-2 exp: split </a:t>
                </a:r>
                <a:r>
                  <a:rPr lang="en-US" sz="1150" b="0" i="0" dirty="0" err="1">
                    <a:solidFill>
                      <a:srgbClr val="5B6570"/>
                    </a:solidFill>
                    <a:latin typeface="Segoe UI"/>
                  </a:rPr>
                  <a:t>x·log₂e</a:t>
                </a:r>
                <a:r>
                  <a:rPr lang="en-US" sz="1150" b="0" i="0" dirty="0">
                    <a:solidFill>
                      <a:srgbClr val="5B6570"/>
                    </a:solidFill>
                    <a:latin typeface="Segoe UI"/>
                  </a:rPr>
                  <a:t> into integer + fractional part, linear-interpolate the fractional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50" b="0" i="1" dirty="0" smtClean="0">
                            <a:solidFill>
                              <a:srgbClr val="5B657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50" b="0" i="1" dirty="0" smtClean="0">
                            <a:solidFill>
                              <a:srgbClr val="5B657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150" b="0" i="1" dirty="0" smtClean="0">
                            <a:solidFill>
                              <a:srgbClr val="5B657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he-IL" sz="1150" b="0" i="0" dirty="0">
                    <a:solidFill>
                      <a:srgbClr val="5B6570"/>
                    </a:solidFill>
                    <a:latin typeface="Segoe UI"/>
                  </a:rPr>
                  <a:t> </a:t>
                </a:r>
                <a:r>
                  <a:rPr lang="en-US" sz="1150" b="0" i="0" dirty="0">
                    <a:solidFill>
                      <a:srgbClr val="5B6570"/>
                    </a:solidFill>
                    <a:latin typeface="Segoe UI"/>
                  </a:rPr>
                  <a:t>term.</a:t>
                </a:r>
                <a:endParaRPr sz="1150" b="0" i="0" dirty="0">
                  <a:solidFill>
                    <a:srgbClr val="5B6570"/>
                  </a:solidFill>
                  <a:latin typeface="Segoe UI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474720"/>
                <a:ext cx="7498079" cy="285143"/>
              </a:xfrm>
              <a:prstGeom prst="rect">
                <a:avLst/>
              </a:prstGeom>
              <a:blipFill>
                <a:blip r:embed="rId6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ounded Rectangle 17"/>
              <p:cNvSpPr/>
              <p:nvPr/>
            </p:nvSpPr>
            <p:spPr>
              <a:xfrm>
                <a:off x="822960" y="4498848"/>
                <a:ext cx="2880360" cy="1024128"/>
              </a:xfrm>
              <a:prstGeom prst="roundRect">
                <a:avLst>
                  <a:gd name="adj" fmla="val 6000"/>
                </a:avLst>
              </a:prstGeom>
              <a:solidFill>
                <a:srgbClr val="ECEEF1"/>
              </a:solidFill>
              <a:ln w="12700">
                <a:solidFill>
                  <a:srgbClr val="C9CED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>
                          <a:solidFill>
                            <a:srgbClr val="1B243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i="1" baseline="-20000" dirty="0" err="1">
                          <a:solidFill>
                            <a:srgbClr val="1B243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>
                          <a:solidFill>
                            <a:srgbClr val="1B243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i="1" dirty="0">
                              <a:solidFill>
                                <a:srgbClr val="1B243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solidFill>
                                <a:srgbClr val="1B243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dirty="0">
                              <a:solidFill>
                                <a:srgbClr val="1B243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en-US" i="1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solidFill>
                                        <a:srgbClr val="1B243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solidFill>
                                        <a:srgbClr val="1B243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rgbClr val="1B243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i="1" dirty="0">
                              <a:solidFill>
                                <a:srgbClr val="1B243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i="1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i="1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i="1" dirty="0">
                              <a:solidFill>
                                <a:srgbClr val="1B243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unc>
                            <m:funcPr>
                              <m:ctrlPr>
                                <a:rPr lang="en-US" i="1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dirty="0">
                                      <a:solidFill>
                                        <a:srgbClr val="1B243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solidFill>
                                        <a:srgbClr val="1B243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solidFill>
                                        <a:srgbClr val="1B243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i="1" dirty="0">
                                  <a:solidFill>
                                    <a:srgbClr val="1B243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8" name="Rounded 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4498848"/>
                <a:ext cx="2880360" cy="1024128"/>
              </a:xfrm>
              <a:prstGeom prst="roundRect">
                <a:avLst>
                  <a:gd name="adj" fmla="val 6000"/>
                </a:avLst>
              </a:prstGeom>
              <a:blipFill>
                <a:blip r:embed="rId7"/>
                <a:stretch>
                  <a:fillRect/>
                </a:stretch>
              </a:blipFill>
              <a:ln w="12700">
                <a:solidFill>
                  <a:srgbClr val="C9CED6"/>
                </a:solidFill>
              </a:ln>
              <a:effectLst/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960120" y="4590288"/>
            <a:ext cx="256032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 i="0" dirty="0">
                <a:solidFill>
                  <a:srgbClr val="2077E0"/>
                </a:solidFill>
                <a:latin typeface="Segoe UI"/>
              </a:rPr>
              <a:t>Pass 3 </a:t>
            </a:r>
            <a:r>
              <a:rPr lang="he-IL" sz="1200" b="1" i="0" dirty="0">
                <a:solidFill>
                  <a:srgbClr val="2077E0"/>
                </a:solidFill>
                <a:latin typeface="Segoe UI"/>
              </a:rPr>
              <a:t>-</a:t>
            </a:r>
            <a:r>
              <a:rPr sz="1200" b="1" i="0" dirty="0">
                <a:solidFill>
                  <a:srgbClr val="2077E0"/>
                </a:solidFill>
                <a:latin typeface="Segoe UI"/>
              </a:rPr>
              <a:t> NORMALIZE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626864"/>
            <a:ext cx="7498079" cy="2851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 dirty="0">
                <a:solidFill>
                  <a:srgbClr val="5B6570"/>
                </a:solidFill>
                <a:latin typeface="Segoe UI"/>
              </a:rPr>
              <a:t>N cycles </a:t>
            </a:r>
            <a:r>
              <a:rPr lang="he-IL" sz="1150" b="0" i="0" dirty="0">
                <a:solidFill>
                  <a:srgbClr val="5B6570"/>
                </a:solidFill>
                <a:latin typeface="Segoe UI"/>
              </a:rPr>
              <a:t>-</a:t>
            </a:r>
            <a:r>
              <a:rPr sz="1150" b="0" i="0" dirty="0">
                <a:solidFill>
                  <a:srgbClr val="5B6570"/>
                </a:solidFill>
                <a:latin typeface="Segoe UI"/>
              </a:rPr>
              <a:t> second exp unit + </a:t>
            </a:r>
            <a:r>
              <a:rPr sz="1150" b="0" i="0" dirty="0" err="1">
                <a:solidFill>
                  <a:srgbClr val="5B6570"/>
                </a:solidFill>
                <a:latin typeface="Segoe UI"/>
              </a:rPr>
              <a:t>Ln_module</a:t>
            </a:r>
            <a:r>
              <a:rPr sz="1150" b="0" i="0" dirty="0">
                <a:solidFill>
                  <a:srgbClr val="5B6570"/>
                </a:solidFill>
                <a:latin typeface="Segoe UI"/>
              </a:rPr>
              <a:t> piecewise log; replaces an explicit hardware divider.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742432"/>
            <a:ext cx="10561320" cy="676656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852160"/>
            <a:ext cx="1014984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>
                <a:solidFill>
                  <a:srgbClr val="2077E0"/>
                </a:solidFill>
                <a:latin typeface="Segoe UI"/>
              </a:rPr>
              <a:t>Total 3N cycles / row, sequential.  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The NumPy golden model uses this identical </a:t>
            </a:r>
            <a:r>
              <a:rPr sz="1150" b="0" i="0" dirty="0" err="1">
                <a:solidFill>
                  <a:srgbClr val="FFFFFF"/>
                </a:solidFill>
                <a:latin typeface="Segoe UI"/>
              </a:rPr>
              <a:t>log₂e-scaled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form </a:t>
            </a:r>
            <a:r>
              <a:rPr lang="he-IL" sz="1150" b="0" i="0" dirty="0">
                <a:solidFill>
                  <a:srgbClr val="FFFFFF"/>
                </a:solidFill>
                <a:latin typeface="Segoe UI"/>
              </a:rPr>
              <a:t>-</a:t>
            </a:r>
            <a:r>
              <a:rPr sz="1150" b="0" i="0" dirty="0">
                <a:solidFill>
                  <a:srgbClr val="FFFFFF"/>
                </a:solidFill>
                <a:latin typeface="Segoe UI"/>
              </a:rPr>
              <a:t> 'golden' means bit-faithful, not merely close.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4864" y="-54864"/>
            <a:ext cx="12301423" cy="1024128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-54864" y="969264"/>
            <a:ext cx="12301423" cy="4572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1204"/>
            <a:ext cx="905256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077E0"/>
                </a:solidFill>
                <a:latin typeface="Segoe UI"/>
              </a:rPr>
              <a:t>BACKUP · WHY 6 LSB, AND ACROSS WHICH BOUNDARIES</a:t>
            </a:r>
          </a:p>
          <a:p>
            <a:r>
              <a:rPr sz="2600" b="1" dirty="0">
                <a:solidFill>
                  <a:srgbClr val="FFFFFF"/>
                </a:solidFill>
                <a:latin typeface="Segoe UI"/>
              </a:rPr>
              <a:t>Appendix </a:t>
            </a:r>
            <a:r>
              <a:rPr lang="he-IL" sz="2600" b="1" dirty="0">
                <a:solidFill>
                  <a:srgbClr val="FFFFFF"/>
                </a:solidFill>
                <a:latin typeface="Segoe UI"/>
              </a:rPr>
              <a:t>-</a:t>
            </a:r>
            <a:r>
              <a:rPr sz="2600" b="1" dirty="0">
                <a:solidFill>
                  <a:srgbClr val="FFFFFF"/>
                </a:solidFill>
                <a:latin typeface="Segoe UI"/>
              </a:rPr>
              <a:t> tolerance-boundary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160020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PROJECT 309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570"/>
                </a:solidFill>
                <a:latin typeface="Segoe UI"/>
              </a:rPr>
              <a:t>taoFPGA  ·  Transformer Accelerator on FPGA  ·  Project 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55664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570"/>
                </a:solidFill>
                <a:latin typeface="Segoe UI"/>
              </a:rPr>
              <a:t>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822960" y="1417320"/>
                <a:ext cx="7406640" cy="32328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Verification is tolerance-bounded, not exact-match </a:t>
                </a:r>
                <a:r>
                  <a:rPr lang="he-IL" sz="1250" b="0" i="0" dirty="0">
                    <a:solidFill>
                      <a:srgbClr val="1B2430"/>
                    </a:solidFill>
                    <a:latin typeface="Segoe UI"/>
                  </a:rPr>
                  <a:t>-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 INT8 </a:t>
                </a:r>
                <a:r>
                  <a:rPr sz="1250" b="0" i="0" dirty="0" err="1">
                    <a:solidFill>
                      <a:srgbClr val="1B2430"/>
                    </a:solidFill>
                    <a:latin typeface="Segoe UI"/>
                  </a:rPr>
                  <a:t>requantization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 and the piecewise exp / log approximations each add sub-LSB error that compounds along the pipeline.</a:t>
                </a:r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1" i="0" dirty="0">
                    <a:solidFill>
                      <a:srgbClr val="1B2430"/>
                    </a:solidFill>
                    <a:latin typeface="Segoe UI"/>
                  </a:rPr>
                  <a:t>Two INT8 quantization boundaries the error crosses:</a:t>
                </a:r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sz="1250" b="0" i="0" dirty="0">
                    <a:solidFill>
                      <a:srgbClr val="5B6570"/>
                    </a:solidFill>
                    <a:latin typeface="Segoe UI"/>
                  </a:rPr>
                  <a:t>      </a:t>
                </a:r>
                <a:r>
                  <a:rPr lang="he-IL" sz="1250" b="0" i="0" dirty="0">
                    <a:solidFill>
                      <a:srgbClr val="5B6570"/>
                    </a:solidFill>
                    <a:latin typeface="Segoe UI"/>
                  </a:rPr>
                  <a:t>-</a:t>
                </a:r>
                <a:r>
                  <a:rPr sz="1250" b="0" i="0" dirty="0">
                    <a:solidFill>
                      <a:srgbClr val="5B6570"/>
                    </a:solidFill>
                    <a:latin typeface="Segoe UI"/>
                  </a:rPr>
                  <a:t>  </a:t>
                </a:r>
                <a:r>
                  <a:rPr sz="1150" b="0" i="0" dirty="0">
                    <a:solidFill>
                      <a:srgbClr val="5B6570"/>
                    </a:solidFill>
                    <a:latin typeface="Segoe UI"/>
                  </a:rPr>
                  <a:t>① </a:t>
                </a:r>
                <a:r>
                  <a:rPr sz="1150" b="0" i="0" dirty="0" err="1">
                    <a:solidFill>
                      <a:srgbClr val="5B6570"/>
                    </a:solidFill>
                    <a:latin typeface="Segoe UI"/>
                  </a:rPr>
                  <a:t>matmul</a:t>
                </a:r>
                <a:r>
                  <a:rPr sz="1150" b="0" i="0" dirty="0">
                    <a:solidFill>
                      <a:srgbClr val="5B6570"/>
                    </a:solidFill>
                    <a:latin typeface="Segoe UI"/>
                  </a:rPr>
                  <a:t> accumulator → </a:t>
                </a:r>
                <a:r>
                  <a:rPr sz="1150" b="0" i="0" dirty="0" err="1">
                    <a:solidFill>
                      <a:srgbClr val="5B6570"/>
                    </a:solidFill>
                    <a:latin typeface="Segoe UI"/>
                  </a:rPr>
                  <a:t>Softmax</a:t>
                </a:r>
                <a:r>
                  <a:rPr sz="1150" b="0" i="0" dirty="0">
                    <a:solidFill>
                      <a:srgbClr val="5B6570"/>
                    </a:solidFill>
                    <a:latin typeface="Segoe UI"/>
                  </a:rPr>
                  <a:t> input:  round-half-up + saturate to </a:t>
                </a:r>
                <a14:m>
                  <m:oMath xmlns:m="http://schemas.openxmlformats.org/officeDocument/2006/math">
                    <m:r>
                      <a:rPr lang="he-IL" sz="1150" b="0" i="1" dirty="0" smtClean="0">
                        <a:solidFill>
                          <a:srgbClr val="5B6570"/>
                        </a:solidFill>
                        <a:latin typeface="Cambria Math" panose="02040503050406030204" pitchFamily="18" charset="0"/>
                      </a:rPr>
                      <m:t>[−128, 127]  </m:t>
                    </m:r>
                  </m:oMath>
                </a14:m>
                <a:r>
                  <a:rPr sz="1150" b="0" i="0" dirty="0">
                    <a:solidFill>
                      <a:srgbClr val="5B6570"/>
                    </a:solidFill>
                    <a:latin typeface="Segoe UI"/>
                  </a:rPr>
                  <a:t>(</a:t>
                </a:r>
                <a:r>
                  <a:rPr sz="1150" b="0" i="1" dirty="0" err="1">
                    <a:solidFill>
                      <a:srgbClr val="5B6570"/>
                    </a:solidFill>
                    <a:latin typeface="Segoe UI"/>
                  </a:rPr>
                  <a:t>right_shifter.v</a:t>
                </a:r>
                <a:r>
                  <a:rPr sz="1150" b="0" i="0" dirty="0">
                    <a:solidFill>
                      <a:srgbClr val="5B6570"/>
                    </a:solidFill>
                    <a:latin typeface="Segoe UI"/>
                  </a:rPr>
                  <a:t>, Eq. 1)</a:t>
                </a:r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sz="1250" b="0" i="0" dirty="0">
                    <a:solidFill>
                      <a:srgbClr val="5B6570"/>
                    </a:solidFill>
                    <a:latin typeface="Segoe UI"/>
                  </a:rPr>
                  <a:t>      </a:t>
                </a:r>
                <a:r>
                  <a:rPr lang="he-IL" sz="1250" b="0" i="0" dirty="0">
                    <a:solidFill>
                      <a:srgbClr val="5B6570"/>
                    </a:solidFill>
                    <a:latin typeface="Segoe UI"/>
                  </a:rPr>
                  <a:t>-</a:t>
                </a:r>
                <a:r>
                  <a:rPr sz="1250" b="0" i="0" dirty="0">
                    <a:solidFill>
                      <a:srgbClr val="5B6570"/>
                    </a:solidFill>
                    <a:latin typeface="Segoe UI"/>
                  </a:rPr>
                  <a:t>  </a:t>
                </a:r>
                <a:r>
                  <a:rPr sz="1150" b="0" i="0" dirty="0">
                    <a:solidFill>
                      <a:srgbClr val="5B6570"/>
                    </a:solidFill>
                    <a:latin typeface="Segoe UI"/>
                  </a:rPr>
                  <a:t>② </a:t>
                </a:r>
                <a:r>
                  <a:rPr sz="1150" b="0" i="0" dirty="0" err="1">
                    <a:solidFill>
                      <a:srgbClr val="5B6570"/>
                    </a:solidFill>
                    <a:latin typeface="Segoe UI"/>
                  </a:rPr>
                  <a:t>Softmax</a:t>
                </a:r>
                <a:r>
                  <a:rPr sz="1150" b="0" i="0" dirty="0">
                    <a:solidFill>
                      <a:srgbClr val="5B6570"/>
                    </a:solidFill>
                    <a:latin typeface="Segoe UI"/>
                  </a:rPr>
                  <a:t> output → GELU input:  a shared fixed-point scale (</a:t>
                </a:r>
                <a:r>
                  <a:rPr sz="1150" b="0" i="0" dirty="0" err="1">
                    <a:solidFill>
                      <a:srgbClr val="5B6570"/>
                    </a:solidFill>
                    <a:latin typeface="Segoe UI"/>
                  </a:rPr>
                  <a:t>softmax_scale_out</a:t>
                </a:r>
                <a:r>
                  <a:rPr sz="1150" b="0" i="0" dirty="0">
                    <a:solidFill>
                      <a:srgbClr val="5B6570"/>
                    </a:solidFill>
                    <a:latin typeface="Segoe UI"/>
                  </a:rPr>
                  <a:t> = </a:t>
                </a:r>
                <a:r>
                  <a:rPr sz="1150" b="0" i="0" dirty="0" err="1">
                    <a:solidFill>
                      <a:srgbClr val="5B6570"/>
                    </a:solidFill>
                    <a:latin typeface="Segoe UI"/>
                  </a:rPr>
                  <a:t>gelu_scale</a:t>
                </a:r>
                <a:r>
                  <a:rPr sz="1150" b="0" i="0" dirty="0">
                    <a:solidFill>
                      <a:srgbClr val="5B6570"/>
                    </a:solidFill>
                    <a:latin typeface="Segoe UI"/>
                  </a:rPr>
                  <a:t>) so both stages read the boundary identically</a:t>
                </a:r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Unit tests use a tighter, scale-dependent LSB threshold per module; the full-pipeline integration test uses a 6-LSB bound at the shared </a:t>
                </a:r>
                <a:r>
                  <a:rPr sz="1250" b="0" i="0" dirty="0" err="1">
                    <a:solidFill>
                      <a:srgbClr val="1B2430"/>
                    </a:solidFill>
                    <a:latin typeface="Segoe UI"/>
                  </a:rPr>
                  <a:t>Softmax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-output / GELU scale.</a:t>
                </a:r>
              </a:p>
              <a:p>
                <a:pPr>
                  <a:lnSpc>
                    <a:spcPct val="120000"/>
                  </a:lnSpc>
                  <a:spcBef>
                    <a:spcPts val="1000"/>
                  </a:spcBef>
                </a:pPr>
                <a:r>
                  <a:rPr sz="1250" b="1" i="0" dirty="0">
                    <a:solidFill>
                      <a:srgbClr val="2077E0"/>
                    </a:solidFill>
                    <a:latin typeface="Segoe UI"/>
                  </a:rPr>
                  <a:t>▸  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6 LSB absorbs benign quantization compounding while still catching real logic errors </a:t>
                </a:r>
                <a:r>
                  <a:rPr lang="he-IL" sz="1250" b="0" i="0" dirty="0">
                    <a:solidFill>
                      <a:srgbClr val="1B2430"/>
                    </a:solidFill>
                    <a:latin typeface="Segoe UI"/>
                  </a:rPr>
                  <a:t>-</a:t>
                </a:r>
                <a:r>
                  <a:rPr sz="1250" b="0" i="0" dirty="0">
                    <a:solidFill>
                      <a:srgbClr val="1B2430"/>
                    </a:solidFill>
                    <a:latin typeface="Segoe UI"/>
                  </a:rPr>
                  <a:t> those produce large or structured deviations (e.g. the exact-zero outputs of Appendix A.10), not a uniform ±few-LSB spread.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417320"/>
                <a:ext cx="7406640" cy="3232808"/>
              </a:xfrm>
              <a:prstGeom prst="rect">
                <a:avLst/>
              </a:prstGeom>
              <a:blipFill>
                <a:blip r:embed="rId3"/>
                <a:stretch>
                  <a:fillRect l="-82" b="-56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8503920" y="1737360"/>
            <a:ext cx="3200400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207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03920" y="1737360"/>
            <a:ext cx="100584" cy="1371600"/>
          </a:xfrm>
          <a:prstGeom prst="rect">
            <a:avLst/>
          </a:prstGeom>
          <a:solidFill>
            <a:srgbClr val="207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05088" y="1737360"/>
            <a:ext cx="2889504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2077E0"/>
                </a:solidFill>
                <a:latin typeface="Segoe UI"/>
              </a:rPr>
              <a:t>6 LSB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000">
                <a:solidFill>
                  <a:srgbClr val="5B6570"/>
                </a:solidFill>
                <a:latin typeface="Segoe UI"/>
              </a:rPr>
              <a:t>integration tolerance at the shared Softmax / GELU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383280"/>
            <a:ext cx="3200400" cy="1371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03920" y="3383280"/>
            <a:ext cx="100584" cy="13716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5088" y="3383280"/>
            <a:ext cx="2889504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300" b="1">
                <a:solidFill>
                  <a:srgbClr val="2E9E5B"/>
                </a:solidFill>
                <a:latin typeface="Segoe UI"/>
              </a:rPr>
              <a:t>0 / 32,000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950">
                <a:solidFill>
                  <a:srgbClr val="5B6570"/>
                </a:solidFill>
                <a:latin typeface="Segoe UI"/>
              </a:rPr>
              <a:t>outside tolerance at full scale (200×96×160), 18,083-cycle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0580" y="5029200"/>
            <a:ext cx="3329940" cy="2621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 dirty="0">
                <a:solidFill>
                  <a:srgbClr val="5B6570"/>
                </a:solidFill>
                <a:latin typeface="Segoe UI"/>
              </a:rPr>
              <a:t>Same bound is met on real PYNQ-Z2 silicon (Slide 17).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5820</Words>
  <Application>Microsoft Office PowerPoint</Application>
  <PresentationFormat>מסך רחב</PresentationFormat>
  <Paragraphs>497</Paragraphs>
  <Slides>28</Slides>
  <Notes>28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Consolas</vt:lpstr>
      <vt:lpstr>Segoe UI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אלירן תורג'מן</dc:creator>
  <cp:keywords/>
  <dc:description>generated using python-pptx</dc:description>
  <cp:lastModifiedBy>Eliran Turgeman</cp:lastModifiedBy>
  <cp:revision>18</cp:revision>
  <dcterms:created xsi:type="dcterms:W3CDTF">2013-01-27T09:14:16Z</dcterms:created>
  <dcterms:modified xsi:type="dcterms:W3CDTF">2026-08-30T13:58:00Z</dcterms:modified>
  <cp:category/>
</cp:coreProperties>
</file>