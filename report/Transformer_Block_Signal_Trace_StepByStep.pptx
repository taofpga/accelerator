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2A94E"/>
                </a:solidFill>
                <a:latin typeface="Consolas"/>
              </a:rPr>
              <a:t>◚◞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8686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E7ECF3"/>
                </a:solidFill>
                <a:latin typeface="Segoe UI Semibold"/>
              </a:rPr>
              <a:t>Transformer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70632"/>
            <a:ext cx="1088136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A94E"/>
                </a:solidFill>
                <a:latin typeface="Segoe UI Semibold"/>
              </a:rPr>
              <a:t>Live Signal Trace —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875520" cy="8229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8A96A8"/>
                </a:solidFill>
                <a:latin typeface="Segoe UI"/>
              </a:rPr>
              <a:t>Every calculation, one slide at a time — 21 steps across MatMul → Softmax → GELU.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8A96A8"/>
                </a:solidFill>
                <a:latin typeface="Segoe UI"/>
              </a:rPr>
              <a:t>Advance with a click, arrow key, or space bar to watch each multiply, compare, exponent, and divide happen.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6A8"/>
                </a:solidFill>
                <a:latin typeface="Consolas"/>
              </a:rPr>
              <a:t>taoFPGA · Project 309 · worked numeric example carried through every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FD0CA"/>
                </a:solidFill>
                <a:latin typeface="Segoe UI"/>
              </a:rPr>
              <a:t>Tip: select all slides → Transitions → Morph, for smooth motion between steps in Slide Show mode.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42416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94E"/>
                </a:solidFill>
                <a:latin typeface="Consolas"/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424160" cy="5029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3"/>
                </a:solidFill>
                <a:latin typeface="Segoe UI Semibold"/>
              </a:rPr>
              <a:t>Three Stages, One Streaming Datapath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042416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Segoe UI"/>
              </a:rPr>
              <a:t>Every input row flows through the same three hardware stages, back to 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83464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/>
            <a:r>
              <a:rPr sz="1300" b="1">
                <a:solidFill>
                  <a:srgbClr val="F2A94E"/>
                </a:solidFill>
                <a:latin typeface="Consolas"/>
              </a:rPr>
              <a:t>1 · SYSTOLIC MATMUL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E7ECF3"/>
                </a:solidFill>
                <a:latin typeface="Segoe UI"/>
              </a:rPr>
              <a:t>Weight-stationary 4×4 PE array.
One multiply-add per cell, per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283464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/>
            <a:r>
              <a:rPr sz="1300" b="1">
                <a:solidFill>
                  <a:srgbClr val="F2A94E"/>
                </a:solidFill>
                <a:latin typeface="Consolas"/>
              </a:rPr>
              <a:t>2 · SOFTMAX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E7ECF3"/>
                </a:solidFill>
                <a:latin typeface="Segoe UI"/>
              </a:rPr>
              <a:t>3 streaming passes:
max → exp &amp; sum → normalize.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7576" y="283464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/>
            <a:r>
              <a:rPr sz="1300" b="1">
                <a:solidFill>
                  <a:srgbClr val="F2A94E"/>
                </a:solidFill>
                <a:latin typeface="Consolas"/>
              </a:rPr>
              <a:t>3 · GELU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E7ECF3"/>
                </a:solidFill>
                <a:latin typeface="Segoe UI"/>
              </a:rPr>
              <a:t>4 parallel lanes evaluate
the activation function at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2463" y="3406140"/>
            <a:ext cx="5486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2A94E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3406140"/>
            <a:ext cx="5486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2A94E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79"/>
            <a:ext cx="1042416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This example: x = [3, -2, 4, 1]   ·   a fixed 4×4 weight matrix   ·   softmax scale_in = ÷8 (2^3)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1 · WEIGHT-STATIONARY 4×4 PE ARRAY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Systolic MatMul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Cycle 1 — x0 = 3 enters row 0. Every PE in that row multiplies x0 by its own stored weight (one MAC per cell, per cycle).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01 / 21</a:t>
            </a:r>
          </a:p>
        </p:txBody>
      </p:sp>
      <p:sp>
        <p:nvSpPr>
          <p:cNvPr id="11" name="chip_0"/>
          <p:cNvSpPr/>
          <p:nvPr/>
        </p:nvSpPr>
        <p:spPr>
          <a:xfrm>
            <a:off x="1234440" y="205740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x₀=3</a:t>
            </a:r>
          </a:p>
        </p:txBody>
      </p:sp>
      <p:sp>
        <p:nvSpPr>
          <p:cNvPr id="12" name="pe_0_0"/>
          <p:cNvSpPr/>
          <p:nvPr/>
        </p:nvSpPr>
        <p:spPr>
          <a:xfrm>
            <a:off x="199339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6</a:t>
            </a:r>
          </a:p>
        </p:txBody>
      </p:sp>
      <p:sp>
        <p:nvSpPr>
          <p:cNvPr id="13" name="pe_0_1"/>
          <p:cNvSpPr/>
          <p:nvPr/>
        </p:nvSpPr>
        <p:spPr>
          <a:xfrm>
            <a:off x="295351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-3</a:t>
            </a:r>
          </a:p>
        </p:txBody>
      </p:sp>
      <p:sp>
        <p:nvSpPr>
          <p:cNvPr id="14" name="pe_0_2"/>
          <p:cNvSpPr/>
          <p:nvPr/>
        </p:nvSpPr>
        <p:spPr>
          <a:xfrm>
            <a:off x="391363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0</a:t>
            </a:r>
          </a:p>
        </p:txBody>
      </p:sp>
      <p:sp>
        <p:nvSpPr>
          <p:cNvPr id="15" name="pe_0_3"/>
          <p:cNvSpPr/>
          <p:nvPr/>
        </p:nvSpPr>
        <p:spPr>
          <a:xfrm>
            <a:off x="487375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9</a:t>
            </a:r>
          </a:p>
        </p:txBody>
      </p:sp>
      <p:sp>
        <p:nvSpPr>
          <p:cNvPr id="16" name="chip_1"/>
          <p:cNvSpPr/>
          <p:nvPr/>
        </p:nvSpPr>
        <p:spPr>
          <a:xfrm>
            <a:off x="1234440" y="301752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96A8"/>
                </a:solidFill>
                <a:latin typeface="Consolas"/>
              </a:rPr>
              <a:t>x₁=-2</a:t>
            </a:r>
          </a:p>
        </p:txBody>
      </p:sp>
      <p:sp>
        <p:nvSpPr>
          <p:cNvPr id="17" name="pe_1_0"/>
          <p:cNvSpPr/>
          <p:nvPr/>
        </p:nvSpPr>
        <p:spPr>
          <a:xfrm>
            <a:off x="199339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18" name="pe_1_1"/>
          <p:cNvSpPr/>
          <p:nvPr/>
        </p:nvSpPr>
        <p:spPr>
          <a:xfrm>
            <a:off x="295351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19" name="pe_1_2"/>
          <p:cNvSpPr/>
          <p:nvPr/>
        </p:nvSpPr>
        <p:spPr>
          <a:xfrm>
            <a:off x="391363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0" name="pe_1_3"/>
          <p:cNvSpPr/>
          <p:nvPr/>
        </p:nvSpPr>
        <p:spPr>
          <a:xfrm>
            <a:off x="487375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1" name="chip_2"/>
          <p:cNvSpPr/>
          <p:nvPr/>
        </p:nvSpPr>
        <p:spPr>
          <a:xfrm>
            <a:off x="1234440" y="3977639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96A8"/>
                </a:solidFill>
                <a:latin typeface="Consolas"/>
              </a:rPr>
              <a:t>x₂=4</a:t>
            </a:r>
          </a:p>
        </p:txBody>
      </p:sp>
      <p:sp>
        <p:nvSpPr>
          <p:cNvPr id="22" name="pe_2_0"/>
          <p:cNvSpPr/>
          <p:nvPr/>
        </p:nvSpPr>
        <p:spPr>
          <a:xfrm>
            <a:off x="199339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3" name="pe_2_1"/>
          <p:cNvSpPr/>
          <p:nvPr/>
        </p:nvSpPr>
        <p:spPr>
          <a:xfrm>
            <a:off x="295351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4" name="pe_2_2"/>
          <p:cNvSpPr/>
          <p:nvPr/>
        </p:nvSpPr>
        <p:spPr>
          <a:xfrm>
            <a:off x="391363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5" name="pe_2_3"/>
          <p:cNvSpPr/>
          <p:nvPr/>
        </p:nvSpPr>
        <p:spPr>
          <a:xfrm>
            <a:off x="487375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6" name="chip_3"/>
          <p:cNvSpPr/>
          <p:nvPr/>
        </p:nvSpPr>
        <p:spPr>
          <a:xfrm>
            <a:off x="1234440" y="493776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96A8"/>
                </a:solidFill>
                <a:latin typeface="Consolas"/>
              </a:rPr>
              <a:t>x₃=1</a:t>
            </a:r>
          </a:p>
        </p:txBody>
      </p:sp>
      <p:sp>
        <p:nvSpPr>
          <p:cNvPr id="27" name="pe_3_0"/>
          <p:cNvSpPr/>
          <p:nvPr/>
        </p:nvSpPr>
        <p:spPr>
          <a:xfrm>
            <a:off x="199339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8" name="pe_3_1"/>
          <p:cNvSpPr/>
          <p:nvPr/>
        </p:nvSpPr>
        <p:spPr>
          <a:xfrm>
            <a:off x="295351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9" name="pe_3_2"/>
          <p:cNvSpPr/>
          <p:nvPr/>
        </p:nvSpPr>
        <p:spPr>
          <a:xfrm>
            <a:off x="391363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30" name="pe_3_3"/>
          <p:cNvSpPr/>
          <p:nvPr/>
        </p:nvSpPr>
        <p:spPr>
          <a:xfrm>
            <a:off x="487375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31" name="wref_label"/>
          <p:cNvSpPr txBox="1"/>
          <p:nvPr/>
        </p:nvSpPr>
        <p:spPr>
          <a:xfrm>
            <a:off x="6473951" y="1764792"/>
            <a:ext cx="2157984" cy="256032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96A8"/>
                </a:solidFill>
                <a:latin typeface="Consolas"/>
              </a:rPr>
              <a:t>weights w[i][j] (fixed)</a:t>
            </a:r>
          </a:p>
        </p:txBody>
      </p:sp>
      <p:sp>
        <p:nvSpPr>
          <p:cNvPr id="32" name="wref_0_0"/>
          <p:cNvSpPr/>
          <p:nvPr/>
        </p:nvSpPr>
        <p:spPr>
          <a:xfrm>
            <a:off x="6473951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33" name="wref_0_1"/>
          <p:cNvSpPr/>
          <p:nvPr/>
        </p:nvSpPr>
        <p:spPr>
          <a:xfrm>
            <a:off x="6912863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-1</a:t>
            </a:r>
          </a:p>
        </p:txBody>
      </p:sp>
      <p:sp>
        <p:nvSpPr>
          <p:cNvPr id="34" name="wref_0_2"/>
          <p:cNvSpPr/>
          <p:nvPr/>
        </p:nvSpPr>
        <p:spPr>
          <a:xfrm>
            <a:off x="7351775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0</a:t>
            </a:r>
          </a:p>
        </p:txBody>
      </p:sp>
      <p:sp>
        <p:nvSpPr>
          <p:cNvPr id="35" name="wref_0_3"/>
          <p:cNvSpPr/>
          <p:nvPr/>
        </p:nvSpPr>
        <p:spPr>
          <a:xfrm>
            <a:off x="7790688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3</a:t>
            </a:r>
          </a:p>
        </p:txBody>
      </p:sp>
      <p:sp>
        <p:nvSpPr>
          <p:cNvPr id="36" name="wref_1_0"/>
          <p:cNvSpPr/>
          <p:nvPr/>
        </p:nvSpPr>
        <p:spPr>
          <a:xfrm>
            <a:off x="6473951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-3</a:t>
            </a:r>
          </a:p>
        </p:txBody>
      </p:sp>
      <p:sp>
        <p:nvSpPr>
          <p:cNvPr id="37" name="wref_1_1"/>
          <p:cNvSpPr/>
          <p:nvPr/>
        </p:nvSpPr>
        <p:spPr>
          <a:xfrm>
            <a:off x="6912863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38" name="wref_1_2"/>
          <p:cNvSpPr/>
          <p:nvPr/>
        </p:nvSpPr>
        <p:spPr>
          <a:xfrm>
            <a:off x="7351775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39" name="wref_1_3"/>
          <p:cNvSpPr/>
          <p:nvPr/>
        </p:nvSpPr>
        <p:spPr>
          <a:xfrm>
            <a:off x="7790688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0" name="wref_2_0"/>
          <p:cNvSpPr/>
          <p:nvPr/>
        </p:nvSpPr>
        <p:spPr>
          <a:xfrm>
            <a:off x="6473951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1" name="wref_2_1"/>
          <p:cNvSpPr/>
          <p:nvPr/>
        </p:nvSpPr>
        <p:spPr>
          <a:xfrm>
            <a:off x="6912863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2" name="wref_2_2"/>
          <p:cNvSpPr/>
          <p:nvPr/>
        </p:nvSpPr>
        <p:spPr>
          <a:xfrm>
            <a:off x="7351775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3" name="wref_2_3"/>
          <p:cNvSpPr/>
          <p:nvPr/>
        </p:nvSpPr>
        <p:spPr>
          <a:xfrm>
            <a:off x="7790688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44" name="wref_3_0"/>
          <p:cNvSpPr/>
          <p:nvPr/>
        </p:nvSpPr>
        <p:spPr>
          <a:xfrm>
            <a:off x="6473951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0</a:t>
            </a:r>
          </a:p>
        </p:txBody>
      </p:sp>
      <p:sp>
        <p:nvSpPr>
          <p:cNvPr id="45" name="wref_3_1"/>
          <p:cNvSpPr/>
          <p:nvPr/>
        </p:nvSpPr>
        <p:spPr>
          <a:xfrm>
            <a:off x="6912863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6" name="wref_3_2"/>
          <p:cNvSpPr/>
          <p:nvPr/>
        </p:nvSpPr>
        <p:spPr>
          <a:xfrm>
            <a:off x="7351775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3</a:t>
            </a:r>
          </a:p>
        </p:txBody>
      </p:sp>
      <p:sp>
        <p:nvSpPr>
          <p:cNvPr id="47" name="wref_3_3"/>
          <p:cNvSpPr/>
          <p:nvPr/>
        </p:nvSpPr>
        <p:spPr>
          <a:xfrm>
            <a:off x="7790688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8" name="outrow_label"/>
          <p:cNvSpPr txBox="1"/>
          <p:nvPr/>
        </p:nvSpPr>
        <p:spPr>
          <a:xfrm>
            <a:off x="1234440" y="5806440"/>
            <a:ext cx="5943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96A8"/>
                </a:solidFill>
                <a:latin typeface="Consolas"/>
              </a:rPr>
              <a:t>matmul output row  (Σᵢ xᵢ·wᵢⱼ per column)</a:t>
            </a:r>
          </a:p>
        </p:txBody>
      </p:sp>
      <p:sp>
        <p:nvSpPr>
          <p:cNvPr id="49" name="outrow_0"/>
          <p:cNvSpPr/>
          <p:nvPr/>
        </p:nvSpPr>
        <p:spPr>
          <a:xfrm>
            <a:off x="1993392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0" name="outrow_1"/>
          <p:cNvSpPr/>
          <p:nvPr/>
        </p:nvSpPr>
        <p:spPr>
          <a:xfrm>
            <a:off x="3163824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1" name="outrow_2"/>
          <p:cNvSpPr/>
          <p:nvPr/>
        </p:nvSpPr>
        <p:spPr>
          <a:xfrm>
            <a:off x="4334256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2" name="outrow_3"/>
          <p:cNvSpPr/>
          <p:nvPr/>
        </p:nvSpPr>
        <p:spPr>
          <a:xfrm>
            <a:off x="5504688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1 · WEIGHT-STATIONARY 4×4 PE ARRAY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Systolic MatMul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Cycle 2 — row 0's partial sums register and flow down to row 1. x₁ = -2 now enters row 1 (it took 1 extra cycles to arrive, staggered on purpose): each cell adds x₁×w to the sum flowing in from above.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02 / 21</a:t>
            </a:r>
          </a:p>
        </p:txBody>
      </p:sp>
      <p:sp>
        <p:nvSpPr>
          <p:cNvPr id="11" name="chip_0"/>
          <p:cNvSpPr/>
          <p:nvPr/>
        </p:nvSpPr>
        <p:spPr>
          <a:xfrm>
            <a:off x="1234440" y="205740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x₀=3</a:t>
            </a:r>
          </a:p>
        </p:txBody>
      </p:sp>
      <p:sp>
        <p:nvSpPr>
          <p:cNvPr id="12" name="pe_0_0"/>
          <p:cNvSpPr/>
          <p:nvPr/>
        </p:nvSpPr>
        <p:spPr>
          <a:xfrm>
            <a:off x="199339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6</a:t>
            </a:r>
          </a:p>
        </p:txBody>
      </p:sp>
      <p:sp>
        <p:nvSpPr>
          <p:cNvPr id="13" name="pe_0_1"/>
          <p:cNvSpPr/>
          <p:nvPr/>
        </p:nvSpPr>
        <p:spPr>
          <a:xfrm>
            <a:off x="295351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-3</a:t>
            </a:r>
          </a:p>
        </p:txBody>
      </p:sp>
      <p:sp>
        <p:nvSpPr>
          <p:cNvPr id="14" name="pe_0_2"/>
          <p:cNvSpPr/>
          <p:nvPr/>
        </p:nvSpPr>
        <p:spPr>
          <a:xfrm>
            <a:off x="391363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0</a:t>
            </a:r>
          </a:p>
        </p:txBody>
      </p:sp>
      <p:sp>
        <p:nvSpPr>
          <p:cNvPr id="15" name="pe_0_3"/>
          <p:cNvSpPr/>
          <p:nvPr/>
        </p:nvSpPr>
        <p:spPr>
          <a:xfrm>
            <a:off x="487375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9</a:t>
            </a:r>
          </a:p>
        </p:txBody>
      </p:sp>
      <p:sp>
        <p:nvSpPr>
          <p:cNvPr id="16" name="chip_1"/>
          <p:cNvSpPr/>
          <p:nvPr/>
        </p:nvSpPr>
        <p:spPr>
          <a:xfrm>
            <a:off x="1234440" y="301752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x₁=-2</a:t>
            </a:r>
          </a:p>
        </p:txBody>
      </p:sp>
      <p:sp>
        <p:nvSpPr>
          <p:cNvPr id="17" name="pe_1_0"/>
          <p:cNvSpPr/>
          <p:nvPr/>
        </p:nvSpPr>
        <p:spPr>
          <a:xfrm>
            <a:off x="199339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12</a:t>
            </a:r>
          </a:p>
        </p:txBody>
      </p:sp>
      <p:sp>
        <p:nvSpPr>
          <p:cNvPr id="18" name="pe_1_1"/>
          <p:cNvSpPr/>
          <p:nvPr/>
        </p:nvSpPr>
        <p:spPr>
          <a:xfrm>
            <a:off x="295351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-7</a:t>
            </a:r>
          </a:p>
        </p:txBody>
      </p:sp>
      <p:sp>
        <p:nvSpPr>
          <p:cNvPr id="19" name="pe_1_2"/>
          <p:cNvSpPr/>
          <p:nvPr/>
        </p:nvSpPr>
        <p:spPr>
          <a:xfrm>
            <a:off x="391363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-2</a:t>
            </a:r>
          </a:p>
        </p:txBody>
      </p:sp>
      <p:sp>
        <p:nvSpPr>
          <p:cNvPr id="20" name="pe_1_3"/>
          <p:cNvSpPr/>
          <p:nvPr/>
        </p:nvSpPr>
        <p:spPr>
          <a:xfrm>
            <a:off x="487375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13</a:t>
            </a:r>
          </a:p>
        </p:txBody>
      </p:sp>
      <p:sp>
        <p:nvSpPr>
          <p:cNvPr id="21" name="chip_2"/>
          <p:cNvSpPr/>
          <p:nvPr/>
        </p:nvSpPr>
        <p:spPr>
          <a:xfrm>
            <a:off x="1234440" y="3977639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96A8"/>
                </a:solidFill>
                <a:latin typeface="Consolas"/>
              </a:rPr>
              <a:t>x₂=4</a:t>
            </a:r>
          </a:p>
        </p:txBody>
      </p:sp>
      <p:sp>
        <p:nvSpPr>
          <p:cNvPr id="22" name="pe_2_0"/>
          <p:cNvSpPr/>
          <p:nvPr/>
        </p:nvSpPr>
        <p:spPr>
          <a:xfrm>
            <a:off x="199339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3" name="pe_2_1"/>
          <p:cNvSpPr/>
          <p:nvPr/>
        </p:nvSpPr>
        <p:spPr>
          <a:xfrm>
            <a:off x="295351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4" name="pe_2_2"/>
          <p:cNvSpPr/>
          <p:nvPr/>
        </p:nvSpPr>
        <p:spPr>
          <a:xfrm>
            <a:off x="391363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5" name="pe_2_3"/>
          <p:cNvSpPr/>
          <p:nvPr/>
        </p:nvSpPr>
        <p:spPr>
          <a:xfrm>
            <a:off x="487375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6" name="chip_3"/>
          <p:cNvSpPr/>
          <p:nvPr/>
        </p:nvSpPr>
        <p:spPr>
          <a:xfrm>
            <a:off x="1234440" y="493776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96A8"/>
                </a:solidFill>
                <a:latin typeface="Consolas"/>
              </a:rPr>
              <a:t>x₃=1</a:t>
            </a:r>
          </a:p>
        </p:txBody>
      </p:sp>
      <p:sp>
        <p:nvSpPr>
          <p:cNvPr id="27" name="pe_3_0"/>
          <p:cNvSpPr/>
          <p:nvPr/>
        </p:nvSpPr>
        <p:spPr>
          <a:xfrm>
            <a:off x="199339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8" name="pe_3_1"/>
          <p:cNvSpPr/>
          <p:nvPr/>
        </p:nvSpPr>
        <p:spPr>
          <a:xfrm>
            <a:off x="295351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9" name="pe_3_2"/>
          <p:cNvSpPr/>
          <p:nvPr/>
        </p:nvSpPr>
        <p:spPr>
          <a:xfrm>
            <a:off x="391363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30" name="pe_3_3"/>
          <p:cNvSpPr/>
          <p:nvPr/>
        </p:nvSpPr>
        <p:spPr>
          <a:xfrm>
            <a:off x="487375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31" name="wref_label"/>
          <p:cNvSpPr txBox="1"/>
          <p:nvPr/>
        </p:nvSpPr>
        <p:spPr>
          <a:xfrm>
            <a:off x="6473951" y="1764792"/>
            <a:ext cx="2157984" cy="256032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96A8"/>
                </a:solidFill>
                <a:latin typeface="Consolas"/>
              </a:rPr>
              <a:t>weights w[i][j] (fixed)</a:t>
            </a:r>
          </a:p>
        </p:txBody>
      </p:sp>
      <p:sp>
        <p:nvSpPr>
          <p:cNvPr id="32" name="wref_0_0"/>
          <p:cNvSpPr/>
          <p:nvPr/>
        </p:nvSpPr>
        <p:spPr>
          <a:xfrm>
            <a:off x="6473951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33" name="wref_0_1"/>
          <p:cNvSpPr/>
          <p:nvPr/>
        </p:nvSpPr>
        <p:spPr>
          <a:xfrm>
            <a:off x="6912863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-1</a:t>
            </a:r>
          </a:p>
        </p:txBody>
      </p:sp>
      <p:sp>
        <p:nvSpPr>
          <p:cNvPr id="34" name="wref_0_2"/>
          <p:cNvSpPr/>
          <p:nvPr/>
        </p:nvSpPr>
        <p:spPr>
          <a:xfrm>
            <a:off x="7351775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0</a:t>
            </a:r>
          </a:p>
        </p:txBody>
      </p:sp>
      <p:sp>
        <p:nvSpPr>
          <p:cNvPr id="35" name="wref_0_3"/>
          <p:cNvSpPr/>
          <p:nvPr/>
        </p:nvSpPr>
        <p:spPr>
          <a:xfrm>
            <a:off x="7790688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3</a:t>
            </a:r>
          </a:p>
        </p:txBody>
      </p:sp>
      <p:sp>
        <p:nvSpPr>
          <p:cNvPr id="36" name="wref_1_0"/>
          <p:cNvSpPr/>
          <p:nvPr/>
        </p:nvSpPr>
        <p:spPr>
          <a:xfrm>
            <a:off x="6473951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-3</a:t>
            </a:r>
          </a:p>
        </p:txBody>
      </p:sp>
      <p:sp>
        <p:nvSpPr>
          <p:cNvPr id="37" name="wref_1_1"/>
          <p:cNvSpPr/>
          <p:nvPr/>
        </p:nvSpPr>
        <p:spPr>
          <a:xfrm>
            <a:off x="6912863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38" name="wref_1_2"/>
          <p:cNvSpPr/>
          <p:nvPr/>
        </p:nvSpPr>
        <p:spPr>
          <a:xfrm>
            <a:off x="7351775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39" name="wref_1_3"/>
          <p:cNvSpPr/>
          <p:nvPr/>
        </p:nvSpPr>
        <p:spPr>
          <a:xfrm>
            <a:off x="7790688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0" name="wref_2_0"/>
          <p:cNvSpPr/>
          <p:nvPr/>
        </p:nvSpPr>
        <p:spPr>
          <a:xfrm>
            <a:off x="6473951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1" name="wref_2_1"/>
          <p:cNvSpPr/>
          <p:nvPr/>
        </p:nvSpPr>
        <p:spPr>
          <a:xfrm>
            <a:off x="6912863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2" name="wref_2_2"/>
          <p:cNvSpPr/>
          <p:nvPr/>
        </p:nvSpPr>
        <p:spPr>
          <a:xfrm>
            <a:off x="7351775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3" name="wref_2_3"/>
          <p:cNvSpPr/>
          <p:nvPr/>
        </p:nvSpPr>
        <p:spPr>
          <a:xfrm>
            <a:off x="7790688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44" name="wref_3_0"/>
          <p:cNvSpPr/>
          <p:nvPr/>
        </p:nvSpPr>
        <p:spPr>
          <a:xfrm>
            <a:off x="6473951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0</a:t>
            </a:r>
          </a:p>
        </p:txBody>
      </p:sp>
      <p:sp>
        <p:nvSpPr>
          <p:cNvPr id="45" name="wref_3_1"/>
          <p:cNvSpPr/>
          <p:nvPr/>
        </p:nvSpPr>
        <p:spPr>
          <a:xfrm>
            <a:off x="6912863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6" name="wref_3_2"/>
          <p:cNvSpPr/>
          <p:nvPr/>
        </p:nvSpPr>
        <p:spPr>
          <a:xfrm>
            <a:off x="7351775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3</a:t>
            </a:r>
          </a:p>
        </p:txBody>
      </p:sp>
      <p:sp>
        <p:nvSpPr>
          <p:cNvPr id="47" name="wref_3_3"/>
          <p:cNvSpPr/>
          <p:nvPr/>
        </p:nvSpPr>
        <p:spPr>
          <a:xfrm>
            <a:off x="7790688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8" name="outrow_label"/>
          <p:cNvSpPr txBox="1"/>
          <p:nvPr/>
        </p:nvSpPr>
        <p:spPr>
          <a:xfrm>
            <a:off x="1234440" y="5806440"/>
            <a:ext cx="5943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96A8"/>
                </a:solidFill>
                <a:latin typeface="Consolas"/>
              </a:rPr>
              <a:t>matmul output row  (Σᵢ xᵢ·wᵢⱼ per column)</a:t>
            </a:r>
          </a:p>
        </p:txBody>
      </p:sp>
      <p:sp>
        <p:nvSpPr>
          <p:cNvPr id="49" name="outrow_0"/>
          <p:cNvSpPr/>
          <p:nvPr/>
        </p:nvSpPr>
        <p:spPr>
          <a:xfrm>
            <a:off x="1993392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0" name="outrow_1"/>
          <p:cNvSpPr/>
          <p:nvPr/>
        </p:nvSpPr>
        <p:spPr>
          <a:xfrm>
            <a:off x="3163824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1" name="outrow_2"/>
          <p:cNvSpPr/>
          <p:nvPr/>
        </p:nvSpPr>
        <p:spPr>
          <a:xfrm>
            <a:off x="4334256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2" name="outrow_3"/>
          <p:cNvSpPr/>
          <p:nvPr/>
        </p:nvSpPr>
        <p:spPr>
          <a:xfrm>
            <a:off x="5504688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1 · WEIGHT-STATIONARY 4×4 PE ARRAY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Systolic MatMul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Cycle 3 — row 1's partial sums register and flow down to row 2. x₂ = 4 now enters row 2 (it took 2 extra cycles to arrive, staggered on purpose): each cell adds x₂×w to the sum flowing in from above.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03 / 21</a:t>
            </a:r>
          </a:p>
        </p:txBody>
      </p:sp>
      <p:sp>
        <p:nvSpPr>
          <p:cNvPr id="11" name="chip_0"/>
          <p:cNvSpPr/>
          <p:nvPr/>
        </p:nvSpPr>
        <p:spPr>
          <a:xfrm>
            <a:off x="1234440" y="205740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x₀=3</a:t>
            </a:r>
          </a:p>
        </p:txBody>
      </p:sp>
      <p:sp>
        <p:nvSpPr>
          <p:cNvPr id="12" name="pe_0_0"/>
          <p:cNvSpPr/>
          <p:nvPr/>
        </p:nvSpPr>
        <p:spPr>
          <a:xfrm>
            <a:off x="199339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6</a:t>
            </a:r>
          </a:p>
        </p:txBody>
      </p:sp>
      <p:sp>
        <p:nvSpPr>
          <p:cNvPr id="13" name="pe_0_1"/>
          <p:cNvSpPr/>
          <p:nvPr/>
        </p:nvSpPr>
        <p:spPr>
          <a:xfrm>
            <a:off x="295351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-3</a:t>
            </a:r>
          </a:p>
        </p:txBody>
      </p:sp>
      <p:sp>
        <p:nvSpPr>
          <p:cNvPr id="14" name="pe_0_2"/>
          <p:cNvSpPr/>
          <p:nvPr/>
        </p:nvSpPr>
        <p:spPr>
          <a:xfrm>
            <a:off x="391363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0</a:t>
            </a:r>
          </a:p>
        </p:txBody>
      </p:sp>
      <p:sp>
        <p:nvSpPr>
          <p:cNvPr id="15" name="pe_0_3"/>
          <p:cNvSpPr/>
          <p:nvPr/>
        </p:nvSpPr>
        <p:spPr>
          <a:xfrm>
            <a:off x="487375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9</a:t>
            </a:r>
          </a:p>
        </p:txBody>
      </p:sp>
      <p:sp>
        <p:nvSpPr>
          <p:cNvPr id="16" name="chip_1"/>
          <p:cNvSpPr/>
          <p:nvPr/>
        </p:nvSpPr>
        <p:spPr>
          <a:xfrm>
            <a:off x="1234440" y="301752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x₁=-2</a:t>
            </a:r>
          </a:p>
        </p:txBody>
      </p:sp>
      <p:sp>
        <p:nvSpPr>
          <p:cNvPr id="17" name="pe_1_0"/>
          <p:cNvSpPr/>
          <p:nvPr/>
        </p:nvSpPr>
        <p:spPr>
          <a:xfrm>
            <a:off x="199339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12</a:t>
            </a:r>
          </a:p>
        </p:txBody>
      </p:sp>
      <p:sp>
        <p:nvSpPr>
          <p:cNvPr id="18" name="pe_1_1"/>
          <p:cNvSpPr/>
          <p:nvPr/>
        </p:nvSpPr>
        <p:spPr>
          <a:xfrm>
            <a:off x="295351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-7</a:t>
            </a:r>
          </a:p>
        </p:txBody>
      </p:sp>
      <p:sp>
        <p:nvSpPr>
          <p:cNvPr id="19" name="pe_1_2"/>
          <p:cNvSpPr/>
          <p:nvPr/>
        </p:nvSpPr>
        <p:spPr>
          <a:xfrm>
            <a:off x="391363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-2</a:t>
            </a:r>
          </a:p>
        </p:txBody>
      </p:sp>
      <p:sp>
        <p:nvSpPr>
          <p:cNvPr id="20" name="pe_1_3"/>
          <p:cNvSpPr/>
          <p:nvPr/>
        </p:nvSpPr>
        <p:spPr>
          <a:xfrm>
            <a:off x="487375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13</a:t>
            </a:r>
          </a:p>
        </p:txBody>
      </p:sp>
      <p:sp>
        <p:nvSpPr>
          <p:cNvPr id="21" name="chip_2"/>
          <p:cNvSpPr/>
          <p:nvPr/>
        </p:nvSpPr>
        <p:spPr>
          <a:xfrm>
            <a:off x="1234440" y="3977639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x₂=4</a:t>
            </a:r>
          </a:p>
        </p:txBody>
      </p:sp>
      <p:sp>
        <p:nvSpPr>
          <p:cNvPr id="22" name="pe_2_0"/>
          <p:cNvSpPr/>
          <p:nvPr/>
        </p:nvSpPr>
        <p:spPr>
          <a:xfrm>
            <a:off x="199339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16</a:t>
            </a:r>
          </a:p>
        </p:txBody>
      </p:sp>
      <p:sp>
        <p:nvSpPr>
          <p:cNvPr id="23" name="pe_2_1"/>
          <p:cNvSpPr/>
          <p:nvPr/>
        </p:nvSpPr>
        <p:spPr>
          <a:xfrm>
            <a:off x="295351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-3</a:t>
            </a:r>
          </a:p>
        </p:txBody>
      </p:sp>
      <p:sp>
        <p:nvSpPr>
          <p:cNvPr id="24" name="pe_2_2"/>
          <p:cNvSpPr/>
          <p:nvPr/>
        </p:nvSpPr>
        <p:spPr>
          <a:xfrm>
            <a:off x="391363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-10</a:t>
            </a:r>
          </a:p>
        </p:txBody>
      </p:sp>
      <p:sp>
        <p:nvSpPr>
          <p:cNvPr id="25" name="pe_2_3"/>
          <p:cNvSpPr/>
          <p:nvPr/>
        </p:nvSpPr>
        <p:spPr>
          <a:xfrm>
            <a:off x="487375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21</a:t>
            </a:r>
          </a:p>
        </p:txBody>
      </p:sp>
      <p:sp>
        <p:nvSpPr>
          <p:cNvPr id="26" name="chip_3"/>
          <p:cNvSpPr/>
          <p:nvPr/>
        </p:nvSpPr>
        <p:spPr>
          <a:xfrm>
            <a:off x="1234440" y="493776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96A8"/>
                </a:solidFill>
                <a:latin typeface="Consolas"/>
              </a:rPr>
              <a:t>x₃=1</a:t>
            </a:r>
          </a:p>
        </p:txBody>
      </p:sp>
      <p:sp>
        <p:nvSpPr>
          <p:cNvPr id="27" name="pe_3_0"/>
          <p:cNvSpPr/>
          <p:nvPr/>
        </p:nvSpPr>
        <p:spPr>
          <a:xfrm>
            <a:off x="199339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8" name="pe_3_1"/>
          <p:cNvSpPr/>
          <p:nvPr/>
        </p:nvSpPr>
        <p:spPr>
          <a:xfrm>
            <a:off x="295351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29" name="pe_3_2"/>
          <p:cNvSpPr/>
          <p:nvPr/>
        </p:nvSpPr>
        <p:spPr>
          <a:xfrm>
            <a:off x="391363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30" name="pe_3_3"/>
          <p:cNvSpPr/>
          <p:nvPr/>
        </p:nvSpPr>
        <p:spPr>
          <a:xfrm>
            <a:off x="487375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61F2E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31" name="wref_label"/>
          <p:cNvSpPr txBox="1"/>
          <p:nvPr/>
        </p:nvSpPr>
        <p:spPr>
          <a:xfrm>
            <a:off x="6473951" y="1764792"/>
            <a:ext cx="2157984" cy="256032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96A8"/>
                </a:solidFill>
                <a:latin typeface="Consolas"/>
              </a:rPr>
              <a:t>weights w[i][j] (fixed)</a:t>
            </a:r>
          </a:p>
        </p:txBody>
      </p:sp>
      <p:sp>
        <p:nvSpPr>
          <p:cNvPr id="32" name="wref_0_0"/>
          <p:cNvSpPr/>
          <p:nvPr/>
        </p:nvSpPr>
        <p:spPr>
          <a:xfrm>
            <a:off x="6473951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33" name="wref_0_1"/>
          <p:cNvSpPr/>
          <p:nvPr/>
        </p:nvSpPr>
        <p:spPr>
          <a:xfrm>
            <a:off x="6912863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-1</a:t>
            </a:r>
          </a:p>
        </p:txBody>
      </p:sp>
      <p:sp>
        <p:nvSpPr>
          <p:cNvPr id="34" name="wref_0_2"/>
          <p:cNvSpPr/>
          <p:nvPr/>
        </p:nvSpPr>
        <p:spPr>
          <a:xfrm>
            <a:off x="7351775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0</a:t>
            </a:r>
          </a:p>
        </p:txBody>
      </p:sp>
      <p:sp>
        <p:nvSpPr>
          <p:cNvPr id="35" name="wref_0_3"/>
          <p:cNvSpPr/>
          <p:nvPr/>
        </p:nvSpPr>
        <p:spPr>
          <a:xfrm>
            <a:off x="7790688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3</a:t>
            </a:r>
          </a:p>
        </p:txBody>
      </p:sp>
      <p:sp>
        <p:nvSpPr>
          <p:cNvPr id="36" name="wref_1_0"/>
          <p:cNvSpPr/>
          <p:nvPr/>
        </p:nvSpPr>
        <p:spPr>
          <a:xfrm>
            <a:off x="6473951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-3</a:t>
            </a:r>
          </a:p>
        </p:txBody>
      </p:sp>
      <p:sp>
        <p:nvSpPr>
          <p:cNvPr id="37" name="wref_1_1"/>
          <p:cNvSpPr/>
          <p:nvPr/>
        </p:nvSpPr>
        <p:spPr>
          <a:xfrm>
            <a:off x="6912863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38" name="wref_1_2"/>
          <p:cNvSpPr/>
          <p:nvPr/>
        </p:nvSpPr>
        <p:spPr>
          <a:xfrm>
            <a:off x="7351775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39" name="wref_1_3"/>
          <p:cNvSpPr/>
          <p:nvPr/>
        </p:nvSpPr>
        <p:spPr>
          <a:xfrm>
            <a:off x="7790688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0" name="wref_2_0"/>
          <p:cNvSpPr/>
          <p:nvPr/>
        </p:nvSpPr>
        <p:spPr>
          <a:xfrm>
            <a:off x="6473951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1" name="wref_2_1"/>
          <p:cNvSpPr/>
          <p:nvPr/>
        </p:nvSpPr>
        <p:spPr>
          <a:xfrm>
            <a:off x="6912863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2" name="wref_2_2"/>
          <p:cNvSpPr/>
          <p:nvPr/>
        </p:nvSpPr>
        <p:spPr>
          <a:xfrm>
            <a:off x="7351775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3" name="wref_2_3"/>
          <p:cNvSpPr/>
          <p:nvPr/>
        </p:nvSpPr>
        <p:spPr>
          <a:xfrm>
            <a:off x="7790688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44" name="wref_3_0"/>
          <p:cNvSpPr/>
          <p:nvPr/>
        </p:nvSpPr>
        <p:spPr>
          <a:xfrm>
            <a:off x="6473951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0</a:t>
            </a:r>
          </a:p>
        </p:txBody>
      </p:sp>
      <p:sp>
        <p:nvSpPr>
          <p:cNvPr id="45" name="wref_3_1"/>
          <p:cNvSpPr/>
          <p:nvPr/>
        </p:nvSpPr>
        <p:spPr>
          <a:xfrm>
            <a:off x="6912863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6" name="wref_3_2"/>
          <p:cNvSpPr/>
          <p:nvPr/>
        </p:nvSpPr>
        <p:spPr>
          <a:xfrm>
            <a:off x="7351775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3</a:t>
            </a:r>
          </a:p>
        </p:txBody>
      </p:sp>
      <p:sp>
        <p:nvSpPr>
          <p:cNvPr id="47" name="wref_3_3"/>
          <p:cNvSpPr/>
          <p:nvPr/>
        </p:nvSpPr>
        <p:spPr>
          <a:xfrm>
            <a:off x="7790688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8" name="outrow_label"/>
          <p:cNvSpPr txBox="1"/>
          <p:nvPr/>
        </p:nvSpPr>
        <p:spPr>
          <a:xfrm>
            <a:off x="1234440" y="5806440"/>
            <a:ext cx="5943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96A8"/>
                </a:solidFill>
                <a:latin typeface="Consolas"/>
              </a:rPr>
              <a:t>matmul output row  (Σᵢ xᵢ·wᵢⱼ per column)</a:t>
            </a:r>
          </a:p>
        </p:txBody>
      </p:sp>
      <p:sp>
        <p:nvSpPr>
          <p:cNvPr id="49" name="outrow_0"/>
          <p:cNvSpPr/>
          <p:nvPr/>
        </p:nvSpPr>
        <p:spPr>
          <a:xfrm>
            <a:off x="1993392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0" name="outrow_1"/>
          <p:cNvSpPr/>
          <p:nvPr/>
        </p:nvSpPr>
        <p:spPr>
          <a:xfrm>
            <a:off x="3163824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1" name="outrow_2"/>
          <p:cNvSpPr/>
          <p:nvPr/>
        </p:nvSpPr>
        <p:spPr>
          <a:xfrm>
            <a:off x="4334256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2" name="outrow_3"/>
          <p:cNvSpPr/>
          <p:nvPr/>
        </p:nvSpPr>
        <p:spPr>
          <a:xfrm>
            <a:off x="5504688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1 · WEIGHT-STATIONARY 4×4 PE ARRAY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Systolic MatMul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Cycle 4 — row 2's partial sums register and flow down to row 3. x₃ = 1 now enters row 3 (it took 3 extra cycles to arrive, staggered on purpose): each cell adds x₃×w to the sum flowing in from above.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04 / 21</a:t>
            </a:r>
          </a:p>
        </p:txBody>
      </p:sp>
      <p:sp>
        <p:nvSpPr>
          <p:cNvPr id="11" name="chip_0"/>
          <p:cNvSpPr/>
          <p:nvPr/>
        </p:nvSpPr>
        <p:spPr>
          <a:xfrm>
            <a:off x="1234440" y="205740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x₀=3</a:t>
            </a:r>
          </a:p>
        </p:txBody>
      </p:sp>
      <p:sp>
        <p:nvSpPr>
          <p:cNvPr id="12" name="pe_0_0"/>
          <p:cNvSpPr/>
          <p:nvPr/>
        </p:nvSpPr>
        <p:spPr>
          <a:xfrm>
            <a:off x="199339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6</a:t>
            </a:r>
          </a:p>
        </p:txBody>
      </p:sp>
      <p:sp>
        <p:nvSpPr>
          <p:cNvPr id="13" name="pe_0_1"/>
          <p:cNvSpPr/>
          <p:nvPr/>
        </p:nvSpPr>
        <p:spPr>
          <a:xfrm>
            <a:off x="295351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-3</a:t>
            </a:r>
          </a:p>
        </p:txBody>
      </p:sp>
      <p:sp>
        <p:nvSpPr>
          <p:cNvPr id="14" name="pe_0_2"/>
          <p:cNvSpPr/>
          <p:nvPr/>
        </p:nvSpPr>
        <p:spPr>
          <a:xfrm>
            <a:off x="391363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0</a:t>
            </a:r>
          </a:p>
        </p:txBody>
      </p:sp>
      <p:sp>
        <p:nvSpPr>
          <p:cNvPr id="15" name="pe_0_3"/>
          <p:cNvSpPr/>
          <p:nvPr/>
        </p:nvSpPr>
        <p:spPr>
          <a:xfrm>
            <a:off x="487375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9</a:t>
            </a:r>
          </a:p>
        </p:txBody>
      </p:sp>
      <p:sp>
        <p:nvSpPr>
          <p:cNvPr id="16" name="chip_1"/>
          <p:cNvSpPr/>
          <p:nvPr/>
        </p:nvSpPr>
        <p:spPr>
          <a:xfrm>
            <a:off x="1234440" y="301752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x₁=-2</a:t>
            </a:r>
          </a:p>
        </p:txBody>
      </p:sp>
      <p:sp>
        <p:nvSpPr>
          <p:cNvPr id="17" name="pe_1_0"/>
          <p:cNvSpPr/>
          <p:nvPr/>
        </p:nvSpPr>
        <p:spPr>
          <a:xfrm>
            <a:off x="199339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12</a:t>
            </a:r>
          </a:p>
        </p:txBody>
      </p:sp>
      <p:sp>
        <p:nvSpPr>
          <p:cNvPr id="18" name="pe_1_1"/>
          <p:cNvSpPr/>
          <p:nvPr/>
        </p:nvSpPr>
        <p:spPr>
          <a:xfrm>
            <a:off x="295351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-7</a:t>
            </a:r>
          </a:p>
        </p:txBody>
      </p:sp>
      <p:sp>
        <p:nvSpPr>
          <p:cNvPr id="19" name="pe_1_2"/>
          <p:cNvSpPr/>
          <p:nvPr/>
        </p:nvSpPr>
        <p:spPr>
          <a:xfrm>
            <a:off x="391363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-2</a:t>
            </a:r>
          </a:p>
        </p:txBody>
      </p:sp>
      <p:sp>
        <p:nvSpPr>
          <p:cNvPr id="20" name="pe_1_3"/>
          <p:cNvSpPr/>
          <p:nvPr/>
        </p:nvSpPr>
        <p:spPr>
          <a:xfrm>
            <a:off x="487375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13</a:t>
            </a:r>
          </a:p>
        </p:txBody>
      </p:sp>
      <p:sp>
        <p:nvSpPr>
          <p:cNvPr id="21" name="chip_2"/>
          <p:cNvSpPr/>
          <p:nvPr/>
        </p:nvSpPr>
        <p:spPr>
          <a:xfrm>
            <a:off x="1234440" y="3977639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x₂=4</a:t>
            </a:r>
          </a:p>
        </p:txBody>
      </p:sp>
      <p:sp>
        <p:nvSpPr>
          <p:cNvPr id="22" name="pe_2_0"/>
          <p:cNvSpPr/>
          <p:nvPr/>
        </p:nvSpPr>
        <p:spPr>
          <a:xfrm>
            <a:off x="199339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16</a:t>
            </a:r>
          </a:p>
        </p:txBody>
      </p:sp>
      <p:sp>
        <p:nvSpPr>
          <p:cNvPr id="23" name="pe_2_1"/>
          <p:cNvSpPr/>
          <p:nvPr/>
        </p:nvSpPr>
        <p:spPr>
          <a:xfrm>
            <a:off x="295351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-3</a:t>
            </a:r>
          </a:p>
        </p:txBody>
      </p:sp>
      <p:sp>
        <p:nvSpPr>
          <p:cNvPr id="24" name="pe_2_2"/>
          <p:cNvSpPr/>
          <p:nvPr/>
        </p:nvSpPr>
        <p:spPr>
          <a:xfrm>
            <a:off x="391363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-10</a:t>
            </a:r>
          </a:p>
        </p:txBody>
      </p:sp>
      <p:sp>
        <p:nvSpPr>
          <p:cNvPr id="25" name="pe_2_3"/>
          <p:cNvSpPr/>
          <p:nvPr/>
        </p:nvSpPr>
        <p:spPr>
          <a:xfrm>
            <a:off x="487375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21</a:t>
            </a:r>
          </a:p>
        </p:txBody>
      </p:sp>
      <p:sp>
        <p:nvSpPr>
          <p:cNvPr id="26" name="chip_3"/>
          <p:cNvSpPr/>
          <p:nvPr/>
        </p:nvSpPr>
        <p:spPr>
          <a:xfrm>
            <a:off x="1234440" y="493776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x₃=1</a:t>
            </a:r>
          </a:p>
        </p:txBody>
      </p:sp>
      <p:sp>
        <p:nvSpPr>
          <p:cNvPr id="27" name="pe_3_0"/>
          <p:cNvSpPr/>
          <p:nvPr/>
        </p:nvSpPr>
        <p:spPr>
          <a:xfrm>
            <a:off x="199339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16</a:t>
            </a:r>
          </a:p>
        </p:txBody>
      </p:sp>
      <p:sp>
        <p:nvSpPr>
          <p:cNvPr id="28" name="pe_3_1"/>
          <p:cNvSpPr/>
          <p:nvPr/>
        </p:nvSpPr>
        <p:spPr>
          <a:xfrm>
            <a:off x="295351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-5</a:t>
            </a:r>
          </a:p>
        </p:txBody>
      </p:sp>
      <p:sp>
        <p:nvSpPr>
          <p:cNvPr id="29" name="pe_3_2"/>
          <p:cNvSpPr/>
          <p:nvPr/>
        </p:nvSpPr>
        <p:spPr>
          <a:xfrm>
            <a:off x="391363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-7</a:t>
            </a:r>
          </a:p>
        </p:txBody>
      </p:sp>
      <p:sp>
        <p:nvSpPr>
          <p:cNvPr id="30" name="pe_3_3"/>
          <p:cNvSpPr/>
          <p:nvPr/>
        </p:nvSpPr>
        <p:spPr>
          <a:xfrm>
            <a:off x="487375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651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A94E"/>
                </a:solidFill>
                <a:latin typeface="Consolas"/>
              </a:rPr>
              <a:t>22</a:t>
            </a:r>
          </a:p>
        </p:txBody>
      </p:sp>
      <p:sp>
        <p:nvSpPr>
          <p:cNvPr id="31" name="wref_label"/>
          <p:cNvSpPr txBox="1"/>
          <p:nvPr/>
        </p:nvSpPr>
        <p:spPr>
          <a:xfrm>
            <a:off x="6473951" y="1764792"/>
            <a:ext cx="2157984" cy="256032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96A8"/>
                </a:solidFill>
                <a:latin typeface="Consolas"/>
              </a:rPr>
              <a:t>weights w[i][j] (fixed)</a:t>
            </a:r>
          </a:p>
        </p:txBody>
      </p:sp>
      <p:sp>
        <p:nvSpPr>
          <p:cNvPr id="32" name="wref_0_0"/>
          <p:cNvSpPr/>
          <p:nvPr/>
        </p:nvSpPr>
        <p:spPr>
          <a:xfrm>
            <a:off x="6473951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33" name="wref_0_1"/>
          <p:cNvSpPr/>
          <p:nvPr/>
        </p:nvSpPr>
        <p:spPr>
          <a:xfrm>
            <a:off x="6912863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-1</a:t>
            </a:r>
          </a:p>
        </p:txBody>
      </p:sp>
      <p:sp>
        <p:nvSpPr>
          <p:cNvPr id="34" name="wref_0_2"/>
          <p:cNvSpPr/>
          <p:nvPr/>
        </p:nvSpPr>
        <p:spPr>
          <a:xfrm>
            <a:off x="7351775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0</a:t>
            </a:r>
          </a:p>
        </p:txBody>
      </p:sp>
      <p:sp>
        <p:nvSpPr>
          <p:cNvPr id="35" name="wref_0_3"/>
          <p:cNvSpPr/>
          <p:nvPr/>
        </p:nvSpPr>
        <p:spPr>
          <a:xfrm>
            <a:off x="7790688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3</a:t>
            </a:r>
          </a:p>
        </p:txBody>
      </p:sp>
      <p:sp>
        <p:nvSpPr>
          <p:cNvPr id="36" name="wref_1_0"/>
          <p:cNvSpPr/>
          <p:nvPr/>
        </p:nvSpPr>
        <p:spPr>
          <a:xfrm>
            <a:off x="6473951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-3</a:t>
            </a:r>
          </a:p>
        </p:txBody>
      </p:sp>
      <p:sp>
        <p:nvSpPr>
          <p:cNvPr id="37" name="wref_1_1"/>
          <p:cNvSpPr/>
          <p:nvPr/>
        </p:nvSpPr>
        <p:spPr>
          <a:xfrm>
            <a:off x="6912863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38" name="wref_1_2"/>
          <p:cNvSpPr/>
          <p:nvPr/>
        </p:nvSpPr>
        <p:spPr>
          <a:xfrm>
            <a:off x="7351775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39" name="wref_1_3"/>
          <p:cNvSpPr/>
          <p:nvPr/>
        </p:nvSpPr>
        <p:spPr>
          <a:xfrm>
            <a:off x="7790688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0" name="wref_2_0"/>
          <p:cNvSpPr/>
          <p:nvPr/>
        </p:nvSpPr>
        <p:spPr>
          <a:xfrm>
            <a:off x="6473951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1" name="wref_2_1"/>
          <p:cNvSpPr/>
          <p:nvPr/>
        </p:nvSpPr>
        <p:spPr>
          <a:xfrm>
            <a:off x="6912863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2" name="wref_2_2"/>
          <p:cNvSpPr/>
          <p:nvPr/>
        </p:nvSpPr>
        <p:spPr>
          <a:xfrm>
            <a:off x="7351775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3" name="wref_2_3"/>
          <p:cNvSpPr/>
          <p:nvPr/>
        </p:nvSpPr>
        <p:spPr>
          <a:xfrm>
            <a:off x="7790688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44" name="wref_3_0"/>
          <p:cNvSpPr/>
          <p:nvPr/>
        </p:nvSpPr>
        <p:spPr>
          <a:xfrm>
            <a:off x="6473951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0</a:t>
            </a:r>
          </a:p>
        </p:txBody>
      </p:sp>
      <p:sp>
        <p:nvSpPr>
          <p:cNvPr id="45" name="wref_3_1"/>
          <p:cNvSpPr/>
          <p:nvPr/>
        </p:nvSpPr>
        <p:spPr>
          <a:xfrm>
            <a:off x="6912863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6" name="wref_3_2"/>
          <p:cNvSpPr/>
          <p:nvPr/>
        </p:nvSpPr>
        <p:spPr>
          <a:xfrm>
            <a:off x="7351775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3</a:t>
            </a:r>
          </a:p>
        </p:txBody>
      </p:sp>
      <p:sp>
        <p:nvSpPr>
          <p:cNvPr id="47" name="wref_3_3"/>
          <p:cNvSpPr/>
          <p:nvPr/>
        </p:nvSpPr>
        <p:spPr>
          <a:xfrm>
            <a:off x="7790688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8" name="outrow_label"/>
          <p:cNvSpPr txBox="1"/>
          <p:nvPr/>
        </p:nvSpPr>
        <p:spPr>
          <a:xfrm>
            <a:off x="1234440" y="5806440"/>
            <a:ext cx="5943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96A8"/>
                </a:solidFill>
                <a:latin typeface="Consolas"/>
              </a:rPr>
              <a:t>matmul output row  (Σᵢ xᵢ·wᵢⱼ per column)</a:t>
            </a:r>
          </a:p>
        </p:txBody>
      </p:sp>
      <p:sp>
        <p:nvSpPr>
          <p:cNvPr id="49" name="outrow_0"/>
          <p:cNvSpPr/>
          <p:nvPr/>
        </p:nvSpPr>
        <p:spPr>
          <a:xfrm>
            <a:off x="1993392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0" name="outrow_1"/>
          <p:cNvSpPr/>
          <p:nvPr/>
        </p:nvSpPr>
        <p:spPr>
          <a:xfrm>
            <a:off x="3163824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1" name="outrow_2"/>
          <p:cNvSpPr/>
          <p:nvPr/>
        </p:nvSpPr>
        <p:spPr>
          <a:xfrm>
            <a:off x="4334256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  <p:sp>
        <p:nvSpPr>
          <p:cNvPr id="52" name="outrow_3"/>
          <p:cNvSpPr/>
          <p:nvPr/>
        </p:nvSpPr>
        <p:spPr>
          <a:xfrm>
            <a:off x="5504688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6A8"/>
                </a:solidFill>
                <a:latin typeface="Consolas"/>
              </a:rPr>
              <a:t>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1 · WEIGHT-STATIONARY 4×4 PE ARRAY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Systolic MatMul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Cycle 5 — row 3's multiply-adds register. Column j's total, Σᵢ xᵢ·wᵢⱼ, is complete: this is the matmul's output row, four numbers, one per column.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05 / 21</a:t>
            </a:r>
          </a:p>
        </p:txBody>
      </p:sp>
      <p:sp>
        <p:nvSpPr>
          <p:cNvPr id="11" name="chip_0"/>
          <p:cNvSpPr/>
          <p:nvPr/>
        </p:nvSpPr>
        <p:spPr>
          <a:xfrm>
            <a:off x="1234440" y="205740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x₀=3</a:t>
            </a:r>
          </a:p>
        </p:txBody>
      </p:sp>
      <p:sp>
        <p:nvSpPr>
          <p:cNvPr id="12" name="pe_0_0"/>
          <p:cNvSpPr/>
          <p:nvPr/>
        </p:nvSpPr>
        <p:spPr>
          <a:xfrm>
            <a:off x="199339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6</a:t>
            </a:r>
          </a:p>
        </p:txBody>
      </p:sp>
      <p:sp>
        <p:nvSpPr>
          <p:cNvPr id="13" name="pe_0_1"/>
          <p:cNvSpPr/>
          <p:nvPr/>
        </p:nvSpPr>
        <p:spPr>
          <a:xfrm>
            <a:off x="295351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-3</a:t>
            </a:r>
          </a:p>
        </p:txBody>
      </p:sp>
      <p:sp>
        <p:nvSpPr>
          <p:cNvPr id="14" name="pe_0_2"/>
          <p:cNvSpPr/>
          <p:nvPr/>
        </p:nvSpPr>
        <p:spPr>
          <a:xfrm>
            <a:off x="391363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0</a:t>
            </a:r>
          </a:p>
        </p:txBody>
      </p:sp>
      <p:sp>
        <p:nvSpPr>
          <p:cNvPr id="15" name="pe_0_3"/>
          <p:cNvSpPr/>
          <p:nvPr/>
        </p:nvSpPr>
        <p:spPr>
          <a:xfrm>
            <a:off x="4873752" y="205740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9</a:t>
            </a:r>
          </a:p>
        </p:txBody>
      </p:sp>
      <p:sp>
        <p:nvSpPr>
          <p:cNvPr id="16" name="chip_1"/>
          <p:cNvSpPr/>
          <p:nvPr/>
        </p:nvSpPr>
        <p:spPr>
          <a:xfrm>
            <a:off x="1234440" y="301752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x₁=-2</a:t>
            </a:r>
          </a:p>
        </p:txBody>
      </p:sp>
      <p:sp>
        <p:nvSpPr>
          <p:cNvPr id="17" name="pe_1_0"/>
          <p:cNvSpPr/>
          <p:nvPr/>
        </p:nvSpPr>
        <p:spPr>
          <a:xfrm>
            <a:off x="199339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12</a:t>
            </a:r>
          </a:p>
        </p:txBody>
      </p:sp>
      <p:sp>
        <p:nvSpPr>
          <p:cNvPr id="18" name="pe_1_1"/>
          <p:cNvSpPr/>
          <p:nvPr/>
        </p:nvSpPr>
        <p:spPr>
          <a:xfrm>
            <a:off x="295351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-7</a:t>
            </a:r>
          </a:p>
        </p:txBody>
      </p:sp>
      <p:sp>
        <p:nvSpPr>
          <p:cNvPr id="19" name="pe_1_2"/>
          <p:cNvSpPr/>
          <p:nvPr/>
        </p:nvSpPr>
        <p:spPr>
          <a:xfrm>
            <a:off x="391363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-2</a:t>
            </a:r>
          </a:p>
        </p:txBody>
      </p:sp>
      <p:sp>
        <p:nvSpPr>
          <p:cNvPr id="20" name="pe_1_3"/>
          <p:cNvSpPr/>
          <p:nvPr/>
        </p:nvSpPr>
        <p:spPr>
          <a:xfrm>
            <a:off x="4873752" y="30175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13</a:t>
            </a:r>
          </a:p>
        </p:txBody>
      </p:sp>
      <p:sp>
        <p:nvSpPr>
          <p:cNvPr id="21" name="chip_2"/>
          <p:cNvSpPr/>
          <p:nvPr/>
        </p:nvSpPr>
        <p:spPr>
          <a:xfrm>
            <a:off x="1234440" y="3977639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x₂=4</a:t>
            </a:r>
          </a:p>
        </p:txBody>
      </p:sp>
      <p:sp>
        <p:nvSpPr>
          <p:cNvPr id="22" name="pe_2_0"/>
          <p:cNvSpPr/>
          <p:nvPr/>
        </p:nvSpPr>
        <p:spPr>
          <a:xfrm>
            <a:off x="199339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16</a:t>
            </a:r>
          </a:p>
        </p:txBody>
      </p:sp>
      <p:sp>
        <p:nvSpPr>
          <p:cNvPr id="23" name="pe_2_1"/>
          <p:cNvSpPr/>
          <p:nvPr/>
        </p:nvSpPr>
        <p:spPr>
          <a:xfrm>
            <a:off x="295351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-3</a:t>
            </a:r>
          </a:p>
        </p:txBody>
      </p:sp>
      <p:sp>
        <p:nvSpPr>
          <p:cNvPr id="24" name="pe_2_2"/>
          <p:cNvSpPr/>
          <p:nvPr/>
        </p:nvSpPr>
        <p:spPr>
          <a:xfrm>
            <a:off x="391363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-10</a:t>
            </a:r>
          </a:p>
        </p:txBody>
      </p:sp>
      <p:sp>
        <p:nvSpPr>
          <p:cNvPr id="25" name="pe_2_3"/>
          <p:cNvSpPr/>
          <p:nvPr/>
        </p:nvSpPr>
        <p:spPr>
          <a:xfrm>
            <a:off x="4873752" y="3977639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651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7ECF3"/>
                </a:solidFill>
                <a:latin typeface="Consolas"/>
              </a:rPr>
              <a:t>21</a:t>
            </a:r>
          </a:p>
        </p:txBody>
      </p:sp>
      <p:sp>
        <p:nvSpPr>
          <p:cNvPr id="26" name="chip_3"/>
          <p:cNvSpPr/>
          <p:nvPr/>
        </p:nvSpPr>
        <p:spPr>
          <a:xfrm>
            <a:off x="1234440" y="4937760"/>
            <a:ext cx="594360" cy="868680"/>
          </a:xfrm>
          <a:prstGeom prst="roundRect">
            <a:avLst>
              <a:gd name="adj" fmla="val 12000"/>
            </a:avLst>
          </a:prstGeom>
          <a:solidFill>
            <a:srgbClr val="2A2013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7ECF3"/>
                </a:solidFill>
                <a:latin typeface="Consolas"/>
              </a:rPr>
              <a:t>x₃=1</a:t>
            </a:r>
          </a:p>
        </p:txBody>
      </p:sp>
      <p:sp>
        <p:nvSpPr>
          <p:cNvPr id="27" name="pe_3_0"/>
          <p:cNvSpPr/>
          <p:nvPr/>
        </p:nvSpPr>
        <p:spPr>
          <a:xfrm>
            <a:off x="199339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1651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FD0CA"/>
                </a:solidFill>
                <a:latin typeface="Consolas"/>
              </a:rPr>
              <a:t>16</a:t>
            </a:r>
          </a:p>
        </p:txBody>
      </p:sp>
      <p:sp>
        <p:nvSpPr>
          <p:cNvPr id="28" name="pe_3_1"/>
          <p:cNvSpPr/>
          <p:nvPr/>
        </p:nvSpPr>
        <p:spPr>
          <a:xfrm>
            <a:off x="295351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1651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FD0CA"/>
                </a:solidFill>
                <a:latin typeface="Consolas"/>
              </a:rPr>
              <a:t>-5</a:t>
            </a:r>
          </a:p>
        </p:txBody>
      </p:sp>
      <p:sp>
        <p:nvSpPr>
          <p:cNvPr id="29" name="pe_3_2"/>
          <p:cNvSpPr/>
          <p:nvPr/>
        </p:nvSpPr>
        <p:spPr>
          <a:xfrm>
            <a:off x="391363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1651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FD0CA"/>
                </a:solidFill>
                <a:latin typeface="Consolas"/>
              </a:rPr>
              <a:t>-7</a:t>
            </a:r>
          </a:p>
        </p:txBody>
      </p:sp>
      <p:sp>
        <p:nvSpPr>
          <p:cNvPr id="30" name="pe_3_3"/>
          <p:cNvSpPr/>
          <p:nvPr/>
        </p:nvSpPr>
        <p:spPr>
          <a:xfrm>
            <a:off x="4873752" y="493776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1651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FD0CA"/>
                </a:solidFill>
                <a:latin typeface="Consolas"/>
              </a:rPr>
              <a:t>22</a:t>
            </a:r>
          </a:p>
        </p:txBody>
      </p:sp>
      <p:sp>
        <p:nvSpPr>
          <p:cNvPr id="31" name="wref_label"/>
          <p:cNvSpPr txBox="1"/>
          <p:nvPr/>
        </p:nvSpPr>
        <p:spPr>
          <a:xfrm>
            <a:off x="6473951" y="1764792"/>
            <a:ext cx="2157984" cy="256032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96A8"/>
                </a:solidFill>
                <a:latin typeface="Consolas"/>
              </a:rPr>
              <a:t>weights w[i][j] (fixed)</a:t>
            </a:r>
          </a:p>
        </p:txBody>
      </p:sp>
      <p:sp>
        <p:nvSpPr>
          <p:cNvPr id="32" name="wref_0_0"/>
          <p:cNvSpPr/>
          <p:nvPr/>
        </p:nvSpPr>
        <p:spPr>
          <a:xfrm>
            <a:off x="6473951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33" name="wref_0_1"/>
          <p:cNvSpPr/>
          <p:nvPr/>
        </p:nvSpPr>
        <p:spPr>
          <a:xfrm>
            <a:off x="6912863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-1</a:t>
            </a:r>
          </a:p>
        </p:txBody>
      </p:sp>
      <p:sp>
        <p:nvSpPr>
          <p:cNvPr id="34" name="wref_0_2"/>
          <p:cNvSpPr/>
          <p:nvPr/>
        </p:nvSpPr>
        <p:spPr>
          <a:xfrm>
            <a:off x="7351775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0</a:t>
            </a:r>
          </a:p>
        </p:txBody>
      </p:sp>
      <p:sp>
        <p:nvSpPr>
          <p:cNvPr id="35" name="wref_0_3"/>
          <p:cNvSpPr/>
          <p:nvPr/>
        </p:nvSpPr>
        <p:spPr>
          <a:xfrm>
            <a:off x="7790688" y="2057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3</a:t>
            </a:r>
          </a:p>
        </p:txBody>
      </p:sp>
      <p:sp>
        <p:nvSpPr>
          <p:cNvPr id="36" name="wref_1_0"/>
          <p:cNvSpPr/>
          <p:nvPr/>
        </p:nvSpPr>
        <p:spPr>
          <a:xfrm>
            <a:off x="6473951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-3</a:t>
            </a:r>
          </a:p>
        </p:txBody>
      </p:sp>
      <p:sp>
        <p:nvSpPr>
          <p:cNvPr id="37" name="wref_1_1"/>
          <p:cNvSpPr/>
          <p:nvPr/>
        </p:nvSpPr>
        <p:spPr>
          <a:xfrm>
            <a:off x="6912863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38" name="wref_1_2"/>
          <p:cNvSpPr/>
          <p:nvPr/>
        </p:nvSpPr>
        <p:spPr>
          <a:xfrm>
            <a:off x="7351775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39" name="wref_1_3"/>
          <p:cNvSpPr/>
          <p:nvPr/>
        </p:nvSpPr>
        <p:spPr>
          <a:xfrm>
            <a:off x="7790688" y="2496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0" name="wref_2_0"/>
          <p:cNvSpPr/>
          <p:nvPr/>
        </p:nvSpPr>
        <p:spPr>
          <a:xfrm>
            <a:off x="6473951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1" name="wref_2_1"/>
          <p:cNvSpPr/>
          <p:nvPr/>
        </p:nvSpPr>
        <p:spPr>
          <a:xfrm>
            <a:off x="6912863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2" name="wref_2_2"/>
          <p:cNvSpPr/>
          <p:nvPr/>
        </p:nvSpPr>
        <p:spPr>
          <a:xfrm>
            <a:off x="7351775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3" name="wref_2_3"/>
          <p:cNvSpPr/>
          <p:nvPr/>
        </p:nvSpPr>
        <p:spPr>
          <a:xfrm>
            <a:off x="7790688" y="29352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2</a:t>
            </a:r>
          </a:p>
        </p:txBody>
      </p:sp>
      <p:sp>
        <p:nvSpPr>
          <p:cNvPr id="44" name="wref_3_0"/>
          <p:cNvSpPr/>
          <p:nvPr/>
        </p:nvSpPr>
        <p:spPr>
          <a:xfrm>
            <a:off x="6473951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0</a:t>
            </a:r>
          </a:p>
        </p:txBody>
      </p:sp>
      <p:sp>
        <p:nvSpPr>
          <p:cNvPr id="45" name="wref_3_1"/>
          <p:cNvSpPr/>
          <p:nvPr/>
        </p:nvSpPr>
        <p:spPr>
          <a:xfrm>
            <a:off x="6912863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-2</a:t>
            </a:r>
          </a:p>
        </p:txBody>
      </p:sp>
      <p:sp>
        <p:nvSpPr>
          <p:cNvPr id="46" name="wref_3_2"/>
          <p:cNvSpPr/>
          <p:nvPr/>
        </p:nvSpPr>
        <p:spPr>
          <a:xfrm>
            <a:off x="7351775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3</a:t>
            </a:r>
          </a:p>
        </p:txBody>
      </p:sp>
      <p:sp>
        <p:nvSpPr>
          <p:cNvPr id="47" name="wref_3_3"/>
          <p:cNvSpPr/>
          <p:nvPr/>
        </p:nvSpPr>
        <p:spPr>
          <a:xfrm>
            <a:off x="7790688" y="33741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143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1</a:t>
            </a:r>
          </a:p>
        </p:txBody>
      </p:sp>
      <p:sp>
        <p:nvSpPr>
          <p:cNvPr id="48" name="outrow_label"/>
          <p:cNvSpPr txBox="1"/>
          <p:nvPr/>
        </p:nvSpPr>
        <p:spPr>
          <a:xfrm>
            <a:off x="1234440" y="5806440"/>
            <a:ext cx="5943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96A8"/>
                </a:solidFill>
                <a:latin typeface="Consolas"/>
              </a:rPr>
              <a:t>matmul output row  (Σᵢ xᵢ·wᵢⱼ per column)</a:t>
            </a:r>
          </a:p>
        </p:txBody>
      </p:sp>
      <p:sp>
        <p:nvSpPr>
          <p:cNvPr id="49" name="outrow_0"/>
          <p:cNvSpPr/>
          <p:nvPr/>
        </p:nvSpPr>
        <p:spPr>
          <a:xfrm>
            <a:off x="1993392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FD0CA"/>
                </a:solidFill>
                <a:latin typeface="Consolas"/>
              </a:rPr>
              <a:t>16</a:t>
            </a:r>
          </a:p>
        </p:txBody>
      </p:sp>
      <p:sp>
        <p:nvSpPr>
          <p:cNvPr id="50" name="outrow_1"/>
          <p:cNvSpPr/>
          <p:nvPr/>
        </p:nvSpPr>
        <p:spPr>
          <a:xfrm>
            <a:off x="3163824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FD0CA"/>
                </a:solidFill>
                <a:latin typeface="Consolas"/>
              </a:rPr>
              <a:t>-5</a:t>
            </a:r>
          </a:p>
        </p:txBody>
      </p:sp>
      <p:sp>
        <p:nvSpPr>
          <p:cNvPr id="51" name="outrow_2"/>
          <p:cNvSpPr/>
          <p:nvPr/>
        </p:nvSpPr>
        <p:spPr>
          <a:xfrm>
            <a:off x="4334256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FD0CA"/>
                </a:solidFill>
                <a:latin typeface="Consolas"/>
              </a:rPr>
              <a:t>-7</a:t>
            </a:r>
          </a:p>
        </p:txBody>
      </p:sp>
      <p:sp>
        <p:nvSpPr>
          <p:cNvPr id="52" name="outrow_3"/>
          <p:cNvSpPr/>
          <p:nvPr/>
        </p:nvSpPr>
        <p:spPr>
          <a:xfrm>
            <a:off x="5504688" y="6080759"/>
            <a:ext cx="1005840" cy="566928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FD0CA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Before Softmax can run, each raw integer column-sum is divided by 2^scale_in (here ÷8) — the same shift Softmax_control's scale_in_input register applies to real int8 data, so the exponent stage sees a sane range.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06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034976"/>
            <a:ext cx="868680" cy="1857063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2742368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2.000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123112"/>
            <a:ext cx="868680" cy="768927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383050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-0.625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3925269"/>
            <a:ext cx="868680" cy="966770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3632661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-0.875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2.750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raw ÷ 2^scale_in (=8) → scaled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1 of 3 (find the max) — reading element 0: scaled score = 2.000. Running max so far: 2.000.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07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034976"/>
            <a:ext cx="868680" cy="1857063"/>
          </a:xfrm>
          <a:prstGeom prst="rect">
            <a:avLst/>
          </a:prstGeom>
          <a:solidFill>
            <a:srgbClr val="F2A94E"/>
          </a:solidFill>
          <a:ln w="1778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2742368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2.000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123112"/>
            <a:ext cx="868680" cy="768927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383050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-0.625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3925269"/>
            <a:ext cx="868680" cy="966770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3632661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-0.875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2.750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max = 2.000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1 of 3 (find the max) — reading element 1: scaled score = -0.625. Running max so far: 2.000.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08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034976"/>
            <a:ext cx="868680" cy="1857063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2742368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2.000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123112"/>
            <a:ext cx="868680" cy="768927"/>
          </a:xfrm>
          <a:prstGeom prst="rect">
            <a:avLst/>
          </a:prstGeom>
          <a:solidFill>
            <a:srgbClr val="F2A94E"/>
          </a:solidFill>
          <a:ln w="1778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383050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-0.625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3925269"/>
            <a:ext cx="868680" cy="966770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3632661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-0.875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2.750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max = 2.000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1 of 3 (find the max) — reading element 2: scaled score = -0.875. Running max so far: 2.000.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09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034976"/>
            <a:ext cx="868680" cy="1857063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2742368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2.000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123112"/>
            <a:ext cx="868680" cy="768927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383050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-0.625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3925269"/>
            <a:ext cx="868680" cy="966770"/>
          </a:xfrm>
          <a:prstGeom prst="rect">
            <a:avLst/>
          </a:prstGeom>
          <a:solidFill>
            <a:srgbClr val="F2A94E"/>
          </a:solidFill>
          <a:ln w="1778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3632661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-0.875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2.750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max = 2.000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1 of 3 (find the max) — reading element 3: scaled score = 2.750. Running max so far: 2.750.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10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034976"/>
            <a:ext cx="868680" cy="1857063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2742368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2.000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123112"/>
            <a:ext cx="868680" cy="768927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383050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-0.625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3925269"/>
            <a:ext cx="868680" cy="966770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3632661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-0.875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F2A94E"/>
          </a:solidFill>
          <a:ln w="1778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2.750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max = 2.750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2 of 3 (exponentiate) — element 0: exp(2.000 − 2.750) = 0.472. Running sum so far: 0.472.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11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589721"/>
            <a:ext cx="868680" cy="1302318"/>
          </a:xfrm>
          <a:prstGeom prst="rect">
            <a:avLst/>
          </a:prstGeom>
          <a:solidFill>
            <a:srgbClr val="F2A94E"/>
          </a:solidFill>
          <a:ln w="1778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3297113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0.472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123112"/>
            <a:ext cx="868680" cy="768927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383050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-0.625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3925269"/>
            <a:ext cx="868680" cy="966770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3632661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-0.875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2.750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max = 2.750    ·    running sum(exp) = 0.472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2 of 3 (exponentiate) — element 1: exp(-0.625 − 2.750) = 0.034. Running sum so far: 0.507.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12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589721"/>
            <a:ext cx="868680" cy="1302318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3297113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0.472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543252"/>
            <a:ext cx="868680" cy="348787"/>
          </a:xfrm>
          <a:prstGeom prst="rect">
            <a:avLst/>
          </a:prstGeom>
          <a:solidFill>
            <a:srgbClr val="F2A94E"/>
          </a:solidFill>
          <a:ln w="1778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425064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0.034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3925269"/>
            <a:ext cx="868680" cy="966770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3632661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-0.875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2.750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max = 2.750    ·    running sum(exp) = 0.507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2 of 3 (exponentiate) — element 2: exp(-0.875 − 2.750) = 0.027. Running sum so far: 0.533.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13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589721"/>
            <a:ext cx="868680" cy="1302318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3297113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0.472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543252"/>
            <a:ext cx="868680" cy="348787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425064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0.034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4559724"/>
            <a:ext cx="868680" cy="332315"/>
          </a:xfrm>
          <a:prstGeom prst="rect">
            <a:avLst/>
          </a:prstGeom>
          <a:solidFill>
            <a:srgbClr val="F2A94E"/>
          </a:solidFill>
          <a:ln w="1778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4267116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0.027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1C2738"/>
          </a:solidFill>
          <a:ln w="1778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2.750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max = 2.750    ·    running sum(exp) = 0.533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2 of 3 (exponentiate) — element 3: exp(2.750 − 2.750) = 1.000. Running sum so far: 1.533.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14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589721"/>
            <a:ext cx="868680" cy="1302318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3297113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0.472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543252"/>
            <a:ext cx="868680" cy="348787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425064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0.034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4559724"/>
            <a:ext cx="868680" cy="332315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4267116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0.027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F2A94E"/>
          </a:solidFill>
          <a:ln w="1778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1.000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max = 2.750    ·    running sum(exp) = 1.533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3 of 3 (normalize) — element 0: 0.472 ÷ 1.533 = 0.308 (30.8%).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15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947242"/>
            <a:ext cx="868680" cy="944797"/>
          </a:xfrm>
          <a:prstGeom prst="rect">
            <a:avLst/>
          </a:prstGeom>
          <a:solidFill>
            <a:srgbClr val="6FCF8E"/>
          </a:solidFill>
          <a:ln w="1778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365463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30.8%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543252"/>
            <a:ext cx="868680" cy="348787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425064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0.034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4559724"/>
            <a:ext cx="868680" cy="332315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4267116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0.027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1.000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sum(exp) = 1.533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3 of 3 (normalize) — element 1: 0.034 ÷ 1.533 = 0.022 (2.2%).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16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947242"/>
            <a:ext cx="868680" cy="944797"/>
          </a:xfrm>
          <a:prstGeom prst="rect">
            <a:avLst/>
          </a:prstGeom>
          <a:solidFill>
            <a:srgbClr val="6FCF8E"/>
          </a:solidFill>
          <a:ln w="1778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365463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30.8%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569150"/>
            <a:ext cx="868680" cy="322889"/>
          </a:xfrm>
          <a:prstGeom prst="rect">
            <a:avLst/>
          </a:prstGeom>
          <a:solidFill>
            <a:srgbClr val="6FCF8E"/>
          </a:solidFill>
          <a:ln w="1778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4276542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2.2%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4559724"/>
            <a:ext cx="868680" cy="332315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4267116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0.027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1.000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sum(exp) = 1.533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3 of 3 (normalize) — element 2: 0.027 ÷ 1.533 = 0.017 (1.7%).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17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947242"/>
            <a:ext cx="868680" cy="944797"/>
          </a:xfrm>
          <a:prstGeom prst="rect">
            <a:avLst/>
          </a:prstGeom>
          <a:solidFill>
            <a:srgbClr val="6FCF8E"/>
          </a:solidFill>
          <a:ln w="1778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365463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30.8%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569150"/>
            <a:ext cx="868680" cy="322889"/>
          </a:xfrm>
          <a:prstGeom prst="rect">
            <a:avLst/>
          </a:prstGeom>
          <a:solidFill>
            <a:srgbClr val="6FCF8E"/>
          </a:solidFill>
          <a:ln w="1778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4276542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2.2%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4579894"/>
            <a:ext cx="868680" cy="312145"/>
          </a:xfrm>
          <a:prstGeom prst="rect">
            <a:avLst/>
          </a:prstGeom>
          <a:solidFill>
            <a:srgbClr val="6FCF8E"/>
          </a:solidFill>
          <a:ln w="1778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4287286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1.7%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2441448"/>
            <a:ext cx="868680" cy="2450592"/>
          </a:xfrm>
          <a:prstGeom prst="rect">
            <a:avLst/>
          </a:prstGeom>
          <a:solidFill>
            <a:srgbClr val="5FD0CA"/>
          </a:solidFill>
          <a:ln w="17780">
            <a:solidFill>
              <a:srgbClr val="5F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148840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1.000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sum(exp) = 1.533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2 · 3 STREAMING PASSES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Softmax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Pass 3 of 3 (normalize) — element 3: 1.000 ÷ 1.533 = 0.652 (65.2%).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18 / 21</a:t>
            </a:r>
          </a:p>
        </p:txBody>
      </p:sp>
      <p:sp>
        <p:nvSpPr>
          <p:cNvPr id="11" name="bar_0"/>
          <p:cNvSpPr/>
          <p:nvPr/>
        </p:nvSpPr>
        <p:spPr>
          <a:xfrm>
            <a:off x="3604107" y="3947242"/>
            <a:ext cx="868680" cy="944797"/>
          </a:xfrm>
          <a:prstGeom prst="rect">
            <a:avLst/>
          </a:prstGeom>
          <a:solidFill>
            <a:srgbClr val="6FCF8E"/>
          </a:solidFill>
          <a:ln w="1778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label_0"/>
          <p:cNvSpPr txBox="1"/>
          <p:nvPr/>
        </p:nvSpPr>
        <p:spPr>
          <a:xfrm>
            <a:off x="3466947" y="3654634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30.8%</a:t>
            </a:r>
          </a:p>
        </p:txBody>
      </p:sp>
      <p:sp>
        <p:nvSpPr>
          <p:cNvPr id="13" name="collabel_0"/>
          <p:cNvSpPr txBox="1"/>
          <p:nvPr/>
        </p:nvSpPr>
        <p:spPr>
          <a:xfrm>
            <a:off x="34669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0</a:t>
            </a:r>
          </a:p>
        </p:txBody>
      </p:sp>
      <p:sp>
        <p:nvSpPr>
          <p:cNvPr id="14" name="bar_1"/>
          <p:cNvSpPr/>
          <p:nvPr/>
        </p:nvSpPr>
        <p:spPr>
          <a:xfrm>
            <a:off x="4975707" y="4569150"/>
            <a:ext cx="868680" cy="322889"/>
          </a:xfrm>
          <a:prstGeom prst="rect">
            <a:avLst/>
          </a:prstGeom>
          <a:solidFill>
            <a:srgbClr val="6FCF8E"/>
          </a:solidFill>
          <a:ln w="1778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label_1"/>
          <p:cNvSpPr txBox="1"/>
          <p:nvPr/>
        </p:nvSpPr>
        <p:spPr>
          <a:xfrm>
            <a:off x="4838547" y="4276542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2.2%</a:t>
            </a:r>
          </a:p>
        </p:txBody>
      </p:sp>
      <p:sp>
        <p:nvSpPr>
          <p:cNvPr id="16" name="collabel_1"/>
          <p:cNvSpPr txBox="1"/>
          <p:nvPr/>
        </p:nvSpPr>
        <p:spPr>
          <a:xfrm>
            <a:off x="48385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1</a:t>
            </a:r>
          </a:p>
        </p:txBody>
      </p:sp>
      <p:sp>
        <p:nvSpPr>
          <p:cNvPr id="17" name="bar_2"/>
          <p:cNvSpPr/>
          <p:nvPr/>
        </p:nvSpPr>
        <p:spPr>
          <a:xfrm>
            <a:off x="6347307" y="4579894"/>
            <a:ext cx="868680" cy="312145"/>
          </a:xfrm>
          <a:prstGeom prst="rect">
            <a:avLst/>
          </a:prstGeom>
          <a:solidFill>
            <a:srgbClr val="6FCF8E"/>
          </a:solidFill>
          <a:ln w="1778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label_2"/>
          <p:cNvSpPr txBox="1"/>
          <p:nvPr/>
        </p:nvSpPr>
        <p:spPr>
          <a:xfrm>
            <a:off x="6210147" y="4287286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1.7%</a:t>
            </a:r>
          </a:p>
        </p:txBody>
      </p:sp>
      <p:sp>
        <p:nvSpPr>
          <p:cNvPr id="19" name="collabel_2"/>
          <p:cNvSpPr txBox="1"/>
          <p:nvPr/>
        </p:nvSpPr>
        <p:spPr>
          <a:xfrm>
            <a:off x="62101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2</a:t>
            </a:r>
          </a:p>
        </p:txBody>
      </p:sp>
      <p:sp>
        <p:nvSpPr>
          <p:cNvPr id="20" name="bar_3"/>
          <p:cNvSpPr/>
          <p:nvPr/>
        </p:nvSpPr>
        <p:spPr>
          <a:xfrm>
            <a:off x="7718907" y="3198320"/>
            <a:ext cx="868680" cy="1693719"/>
          </a:xfrm>
          <a:prstGeom prst="rect">
            <a:avLst/>
          </a:prstGeom>
          <a:solidFill>
            <a:srgbClr val="6FCF8E"/>
          </a:solidFill>
          <a:ln w="1778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label_3"/>
          <p:cNvSpPr txBox="1"/>
          <p:nvPr/>
        </p:nvSpPr>
        <p:spPr>
          <a:xfrm>
            <a:off x="7581747" y="2905712"/>
            <a:ext cx="11430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7ECF3"/>
                </a:solidFill>
                <a:latin typeface="Consolas"/>
              </a:rPr>
              <a:t>65.2%</a:t>
            </a:r>
          </a:p>
        </p:txBody>
      </p:sp>
      <p:sp>
        <p:nvSpPr>
          <p:cNvPr id="22" name="collabel_3"/>
          <p:cNvSpPr txBox="1"/>
          <p:nvPr/>
        </p:nvSpPr>
        <p:spPr>
          <a:xfrm>
            <a:off x="7581747" y="4937759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Consolas"/>
              </a:rPr>
              <a:t>col 3</a:t>
            </a:r>
          </a:p>
        </p:txBody>
      </p:sp>
      <p:sp>
        <p:nvSpPr>
          <p:cNvPr id="23" name="baseline"/>
          <p:cNvSpPr/>
          <p:nvPr/>
        </p:nvSpPr>
        <p:spPr>
          <a:xfrm>
            <a:off x="3329787" y="4892040"/>
            <a:ext cx="5532120" cy="10972"/>
          </a:xfrm>
          <a:prstGeom prst="roundRect">
            <a:avLst>
              <a:gd name="adj" fmla="val 12000"/>
            </a:avLst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_box"/>
          <p:cNvSpPr/>
          <p:nvPr/>
        </p:nvSpPr>
        <p:spPr>
          <a:xfrm>
            <a:off x="3329787" y="523951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_text"/>
          <p:cNvSpPr txBox="1"/>
          <p:nvPr/>
        </p:nvSpPr>
        <p:spPr>
          <a:xfrm>
            <a:off x="3466947" y="5239512"/>
            <a:ext cx="52578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4E"/>
                </a:solidFill>
                <a:latin typeface="Consolas"/>
              </a:rPr>
              <a:t>running sum(exp) = 1.533    ·    Σ probabilities = 1.000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3 · 4 PARALLEL LANES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GELU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The four Softmax probabilities become the inputs to four parallel GELU lanes — EightGelus computes num_gelu=4 lanes in the same clock cycles, one per output column.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19 / 21</a:t>
            </a:r>
          </a:p>
        </p:txBody>
      </p:sp>
      <p:pic>
        <p:nvPicPr>
          <p:cNvPr id="11" name="Picture 10" descr="gelu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6675120" cy="4040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143324"/>
            <a:ext cx="667512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96A8"/>
                </a:solidFill>
                <a:latin typeface="Consolas"/>
              </a:rPr>
              <a:t>GELU(x) = 0.5·x·(1 + tanh[ √(2/π)·(x + 0.044715x³) ])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35240" y="2148840"/>
          <a:ext cx="4005070" cy="256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014"/>
                <a:gridCol w="1602028"/>
                <a:gridCol w="1602028"/>
              </a:tblGrid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2A94E"/>
                          </a:solidFill>
                          <a:latin typeface="Consolas"/>
                        </a:rPr>
                        <a:t>Lane</a:t>
                      </a:r>
                    </a:p>
                  </a:txBody>
                  <a:tcPr>
                    <a:solidFill>
                      <a:srgbClr val="1C2738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2A94E"/>
                          </a:solidFill>
                          <a:latin typeface="Consolas"/>
                        </a:rPr>
                        <a:t>Softmax out</a:t>
                      </a:r>
                    </a:p>
                  </a:txBody>
                  <a:tcPr>
                    <a:solidFill>
                      <a:srgbClr val="1C2738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2A94E"/>
                          </a:solidFill>
                          <a:latin typeface="Consolas"/>
                        </a:rPr>
                        <a:t>GELU out</a:t>
                      </a:r>
                    </a:p>
                  </a:txBody>
                  <a:tcPr>
                    <a:solidFill>
                      <a:srgbClr val="1C2738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0.308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0.022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0.017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0.652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3 · 4 PARALLEL LANES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GELU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All four lanes evaluate GELU(x) at once (no data dependency between lanes) — each dot rises to meet the curve at its own output value.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20 / 21</a:t>
            </a:r>
          </a:p>
        </p:txBody>
      </p:sp>
      <p:pic>
        <p:nvPicPr>
          <p:cNvPr id="11" name="Picture 10" descr="gelu_l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6675120" cy="4040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143324"/>
            <a:ext cx="667512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96A8"/>
                </a:solidFill>
                <a:latin typeface="Consolas"/>
              </a:rPr>
              <a:t>GELU(x) = 0.5·x·(1 + tanh[ √(2/π)·(x + 0.044715x³) ])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35240" y="2148840"/>
          <a:ext cx="4005070" cy="256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014"/>
                <a:gridCol w="1602028"/>
                <a:gridCol w="1602028"/>
              </a:tblGrid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2A94E"/>
                          </a:solidFill>
                          <a:latin typeface="Consolas"/>
                        </a:rPr>
                        <a:t>Lane</a:t>
                      </a:r>
                    </a:p>
                  </a:txBody>
                  <a:tcPr>
                    <a:solidFill>
                      <a:srgbClr val="1C2738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2A94E"/>
                          </a:solidFill>
                          <a:latin typeface="Consolas"/>
                        </a:rPr>
                        <a:t>Softmax out</a:t>
                      </a:r>
                    </a:p>
                  </a:txBody>
                  <a:tcPr>
                    <a:solidFill>
                      <a:srgbClr val="1C2738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2A94E"/>
                          </a:solidFill>
                          <a:latin typeface="Consolas"/>
                        </a:rPr>
                        <a:t>GELU out</a:t>
                      </a:r>
                    </a:p>
                  </a:txBody>
                  <a:tcPr>
                    <a:solidFill>
                      <a:srgbClr val="1C2738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0.308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5FD0CA"/>
                          </a:solidFill>
                          <a:latin typeface="Consolas"/>
                        </a:rPr>
                        <a:t>0.191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0.022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5FD0CA"/>
                          </a:solidFill>
                          <a:latin typeface="Consolas"/>
                        </a:rPr>
                        <a:t>0.011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0.017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5FD0CA"/>
                          </a:solidFill>
                          <a:latin typeface="Consolas"/>
                        </a:rPr>
                        <a:t>0.009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0.652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5FD0CA"/>
                          </a:solidFill>
                          <a:latin typeface="Consolas"/>
                        </a:rPr>
                        <a:t>0.484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02920" y="274320"/>
            <a:ext cx="7772400" cy="219456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4E"/>
                </a:solidFill>
                <a:latin typeface="Consolas"/>
              </a:rPr>
              <a:t>STAGE 3 · 4 PARALLEL LANES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CF3"/>
                </a:solidFill>
                <a:latin typeface="Segoe UI Semibold"/>
              </a:rPr>
              <a:t>GELU</a:t>
            </a:r>
          </a:p>
        </p:txBody>
      </p:sp>
      <p:sp>
        <p:nvSpPr>
          <p:cNvPr id="4" name="narr_accent"/>
          <p:cNvSpPr/>
          <p:nvPr/>
        </p:nvSpPr>
        <p:spPr>
          <a:xfrm>
            <a:off x="502920" y="96926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F2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rr_panel"/>
          <p:cNvSpPr/>
          <p:nvPr/>
        </p:nvSpPr>
        <p:spPr>
          <a:xfrm>
            <a:off x="621792" y="969264"/>
            <a:ext cx="11018520" cy="749808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rr_text"/>
          <p:cNvSpPr txBox="1"/>
          <p:nvPr/>
        </p:nvSpPr>
        <p:spPr>
          <a:xfrm>
            <a:off x="777240" y="969264"/>
            <a:ext cx="1069848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3"/>
                </a:solidFill>
                <a:latin typeface="Segoe UI"/>
              </a:rPr>
              <a:t>Pipeline output — one fully processed row: MatMul → Softmax → GELU, ready to leave this block (or feed the next one).</a:t>
            </a:r>
          </a:p>
        </p:txBody>
      </p:sp>
      <p:sp>
        <p:nvSpPr>
          <p:cNvPr id="7" name="tracker_matmul"/>
          <p:cNvSpPr/>
          <p:nvPr/>
        </p:nvSpPr>
        <p:spPr>
          <a:xfrm>
            <a:off x="816559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SYSTOLIC MATMUL</a:t>
            </a:r>
          </a:p>
        </p:txBody>
      </p:sp>
      <p:sp>
        <p:nvSpPr>
          <p:cNvPr id="8" name="tracker_softmax"/>
          <p:cNvSpPr/>
          <p:nvPr/>
        </p:nvSpPr>
        <p:spPr>
          <a:xfrm>
            <a:off x="935431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C2738"/>
          </a:solidFill>
          <a:ln w="1524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A8"/>
                </a:solidFill>
                <a:latin typeface="Consolas"/>
              </a:rPr>
              <a:t>SOFTMAX</a:t>
            </a:r>
          </a:p>
        </p:txBody>
      </p:sp>
      <p:sp>
        <p:nvSpPr>
          <p:cNvPr id="9" name="tracker_gelu"/>
          <p:cNvSpPr/>
          <p:nvPr/>
        </p:nvSpPr>
        <p:spPr>
          <a:xfrm>
            <a:off x="10543032" y="292608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 w="15240">
            <a:solidFill>
              <a:srgbClr val="F2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2A94E"/>
                </a:solidFill>
                <a:latin typeface="Consolas"/>
              </a:rPr>
              <a:t>GELU</a:t>
            </a:r>
          </a:p>
        </p:txBody>
      </p:sp>
      <p:sp>
        <p:nvSpPr>
          <p:cNvPr id="10" name="step_counter"/>
          <p:cNvSpPr txBox="1"/>
          <p:nvPr/>
        </p:nvSpPr>
        <p:spPr>
          <a:xfrm>
            <a:off x="8165592" y="649224"/>
            <a:ext cx="3474720" cy="21945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Consolas"/>
              </a:rPr>
              <a:t>STEP 21 / 21</a:t>
            </a:r>
          </a:p>
        </p:txBody>
      </p:sp>
      <p:pic>
        <p:nvPicPr>
          <p:cNvPr id="11" name="Picture 10" descr="gelu_l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6675120" cy="4040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143324"/>
            <a:ext cx="667512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96A8"/>
                </a:solidFill>
                <a:latin typeface="Consolas"/>
              </a:rPr>
              <a:t>GELU(x) = 0.5·x·(1 + tanh[ √(2/π)·(x + 0.044715x³) ])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35240" y="2148840"/>
          <a:ext cx="4005070" cy="256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014"/>
                <a:gridCol w="1602028"/>
                <a:gridCol w="1602028"/>
              </a:tblGrid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2A94E"/>
                          </a:solidFill>
                          <a:latin typeface="Consolas"/>
                        </a:rPr>
                        <a:t>Lane</a:t>
                      </a:r>
                    </a:p>
                  </a:txBody>
                  <a:tcPr>
                    <a:solidFill>
                      <a:srgbClr val="1C2738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2A94E"/>
                          </a:solidFill>
                          <a:latin typeface="Consolas"/>
                        </a:rPr>
                        <a:t>Softmax out</a:t>
                      </a:r>
                    </a:p>
                  </a:txBody>
                  <a:tcPr>
                    <a:solidFill>
                      <a:srgbClr val="1C2738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2A94E"/>
                          </a:solidFill>
                          <a:latin typeface="Consolas"/>
                        </a:rPr>
                        <a:t>GELU out</a:t>
                      </a:r>
                    </a:p>
                  </a:txBody>
                  <a:tcPr>
                    <a:solidFill>
                      <a:srgbClr val="1C2738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0.308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5FD0CA"/>
                          </a:solidFill>
                          <a:latin typeface="Consolas"/>
                        </a:rPr>
                        <a:t>0.191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0.022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5FD0CA"/>
                          </a:solidFill>
                          <a:latin typeface="Consolas"/>
                        </a:rPr>
                        <a:t>0.011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0.017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5FD0CA"/>
                          </a:solidFill>
                          <a:latin typeface="Consolas"/>
                        </a:rPr>
                        <a:t>0.009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12063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7ECF3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7ECF3"/>
                          </a:solidFill>
                          <a:latin typeface="Consolas"/>
                        </a:rPr>
                        <a:t>0.652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5FD0CA"/>
                          </a:solidFill>
                          <a:latin typeface="Consolas"/>
                        </a:rPr>
                        <a:t>0.484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42416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94E"/>
                </a:solidFill>
                <a:latin typeface="Consolas"/>
              </a:rPr>
              <a:t>PIPELINE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424160" cy="5029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3"/>
                </a:solidFill>
                <a:latin typeface="Segoe UI Semibold"/>
              </a:rPr>
              <a:t>One Row, Fully Processed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042416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6A8"/>
                </a:solidFill>
                <a:latin typeface="Segoe UI"/>
              </a:rPr>
              <a:t>MatMul → Softmax → GELU — ready to leave this block, or feed the next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82880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2032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8A96A8"/>
                </a:solidFill>
                <a:latin typeface="Consolas"/>
              </a:rPr>
              <a:t>out[0]</a:t>
            </a:r>
          </a:p>
          <a:p>
            <a:pPr algn="ctr"/>
            <a:r>
              <a:rPr sz="2600" b="1">
                <a:solidFill>
                  <a:srgbClr val="6FCF8E"/>
                </a:solidFill>
                <a:latin typeface="Consolas"/>
              </a:rPr>
              <a:t>0.191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3260" y="182880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2032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8A96A8"/>
                </a:solidFill>
                <a:latin typeface="Consolas"/>
              </a:rPr>
              <a:t>out[1]</a:t>
            </a:r>
          </a:p>
          <a:p>
            <a:pPr algn="ctr"/>
            <a:r>
              <a:rPr sz="2600" b="1">
                <a:solidFill>
                  <a:srgbClr val="6FCF8E"/>
                </a:solidFill>
                <a:latin typeface="Consolas"/>
              </a:rPr>
              <a:t>0.011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5020" y="182880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2032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8A96A8"/>
                </a:solidFill>
                <a:latin typeface="Consolas"/>
              </a:rPr>
              <a:t>out[2]</a:t>
            </a:r>
          </a:p>
          <a:p>
            <a:pPr algn="ctr"/>
            <a:r>
              <a:rPr sz="2600" b="1">
                <a:solidFill>
                  <a:srgbClr val="6FCF8E"/>
                </a:solidFill>
                <a:latin typeface="Consolas"/>
              </a:rPr>
              <a:t>0.009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26780" y="182880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15302C"/>
          </a:solidFill>
          <a:ln w="20320">
            <a:solidFill>
              <a:srgbClr val="6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8A96A8"/>
                </a:solidFill>
                <a:latin typeface="Consolas"/>
              </a:rPr>
              <a:t>out[3]</a:t>
            </a:r>
          </a:p>
          <a:p>
            <a:pPr algn="ctr"/>
            <a:r>
              <a:rPr sz="2600" b="1">
                <a:solidFill>
                  <a:srgbClr val="6FCF8E"/>
                </a:solidFill>
                <a:latin typeface="Consolas"/>
              </a:rPr>
              <a:t>0.484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03320"/>
            <a:ext cx="1042416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94E"/>
                </a:solidFill>
                <a:latin typeface="Consolas"/>
              </a:rPr>
              <a:t>WHAT'S REAL VS. SIMPLIFIED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2743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FD0CA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996696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7ECF3"/>
                </a:solidFill>
                <a:latin typeface="Segoe UI"/>
              </a:rPr>
              <a:t>Dataflow is exact: weight-stationary systolic accumulation, the 3-pass streaming Softmax, and the piecewise GELU all match your RTL's actual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36008"/>
            <a:ext cx="2743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FD0CA"/>
                </a:solidFill>
                <a:latin typeface="Segoe U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36008"/>
            <a:ext cx="996696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7ECF3"/>
                </a:solidFill>
                <a:latin typeface="Segoe UI"/>
              </a:rPr>
              <a:t>Simplified for this deck: plain decimals stand in for the real 8-bit fixed-point / Q-format registers, and the array shown is 4×4 rather than the default 16×16.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202936"/>
            <a:ext cx="2743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FD0CA"/>
                </a:solidFill>
                <a:latin typeface="Segoe U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202936"/>
            <a:ext cx="996696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7ECF3"/>
                </a:solidFill>
                <a:latin typeface="Segoe UI"/>
              </a:rPr>
              <a:t>Wiring note: GELU runs after Softmax here, matching transformer_block_top.v's real wiring — this is not a complete attention block (no Q·Kᵀ, no multi-head, no residual / LayerNorm yet).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